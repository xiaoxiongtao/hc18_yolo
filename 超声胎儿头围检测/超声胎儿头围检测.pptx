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mple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0"/>
            <a:ext cx="4191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001000" y="0"/>
            <a:ext cx="4191000" cy="6858000"/>
          </a:xfrm>
          <a:prstGeom prst="rect">
            <a:avLst/>
          </a:prstGeom>
          <a:solidFill>
            <a:srgbClr val="0E3F8C">
              <a:alpha val="3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01000" y="5905500"/>
            <a:ext cx="4191000" cy="952500"/>
          </a:xfrm>
          <a:prstGeom prst="rect">
            <a:avLst/>
          </a:prstGeom>
          <a:solidFill>
            <a:srgbClr val="0E3F8C">
              <a:alpha val="72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01000" y="6057900"/>
            <a:ext cx="4000500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FFFFF"/>
                </a:solidFill>
                <a:latin typeface="Microsoft YaHei"/>
                <a:ea typeface="Microsoft YaHei"/>
              </a:rPr>
              <a:t>HC18 标准平面产前超声图像（800×540 灰度）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1238250"/>
            <a:ext cx="6477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3D7BD9"/>
                </a:solidFill>
                <a:latin typeface="Microsoft YaHei"/>
                <a:ea typeface="Microsoft YaHei"/>
              </a:rPr>
              <a:t>医学影像人工智能 · 教学课件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600200"/>
            <a:ext cx="7239000" cy="952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1" i="0">
                <a:solidFill>
                  <a:srgbClr val="0E3F8C"/>
                </a:solidFill>
                <a:latin typeface="Microsoft YaHei"/>
                <a:ea typeface="Microsoft YaHei"/>
              </a:rPr>
              <a:t>超声胎儿头围检测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743200"/>
            <a:ext cx="6667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4A5568"/>
                </a:solidFill>
                <a:latin typeface="Microsoft YaHei"/>
                <a:ea typeface="Microsoft YaHei"/>
              </a:rPr>
              <a:t>Automated Measurement of Fetal Head Circumference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600" y="3200400"/>
            <a:ext cx="1047750" cy="571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600" y="3486150"/>
            <a:ext cx="6667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A2230"/>
                </a:solidFill>
                <a:latin typeface="Microsoft YaHei"/>
                <a:ea typeface="Microsoft YaHei"/>
              </a:rPr>
              <a:t>基于 YOLOv8 与 YOLO11 的目标检测实践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3943350"/>
            <a:ext cx="666750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4A5568"/>
                </a:solidFill>
                <a:latin typeface="Microsoft YaHei"/>
                <a:ea typeface="Microsoft YaHei"/>
              </a:rPr>
              <a:t>从 HC18 挑战赛数据到头围自动估计的全流程：</a:t>
            </a:r>
          </a:p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4A5568"/>
                </a:solidFill>
                <a:latin typeface="Microsoft YaHei"/>
                <a:ea typeface="Microsoft YaHei"/>
              </a:rPr>
              <a:t>数据 · 标注转换 · 网络架构 · 训练 · 评估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600" y="5676900"/>
            <a:ext cx="1485900" cy="41910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600" y="5676900"/>
            <a:ext cx="148590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0E3F8C"/>
                </a:solidFill>
                <a:latin typeface="Microsoft YaHei"/>
                <a:ea typeface="Microsoft YaHei"/>
              </a:rPr>
              <a:t>汇报人：肖雄涛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28850" y="5676900"/>
            <a:ext cx="2095500" cy="41910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28850" y="5676900"/>
            <a:ext cx="209550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0E3F8C"/>
                </a:solidFill>
                <a:latin typeface="Microsoft YaHei"/>
                <a:ea typeface="Microsoft YaHei"/>
              </a:rPr>
              <a:t>2026 年 10 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57700" y="5676900"/>
            <a:ext cx="3314700" cy="41910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57700" y="5676900"/>
            <a:ext cx="331470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0E3F8C"/>
                </a:solidFill>
                <a:latin typeface="Microsoft YaHei"/>
                <a:ea typeface="Microsoft YaHei"/>
              </a:rPr>
              <a:t>数据：HC18 · ISBI 2018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38500" cy="6858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247650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1" i="0">
                <a:solidFill>
                  <a:srgbClr val="FFFFFF"/>
                </a:solidFill>
                <a:latin typeface="Microsoft YaHei"/>
                <a:ea typeface="Microsoft YaHei"/>
              </a:rPr>
              <a:t>目 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66900"/>
            <a:ext cx="2476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FFFFFF"/>
                </a:solidFill>
                <a:latin typeface="Microsoft YaHei"/>
                <a:ea typeface="Microsoft YaHei"/>
              </a:rPr>
              <a:t>CONTENTS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533400" cy="47625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590800"/>
            <a:ext cx="2286000" cy="15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80000"/>
              </a:lnSpc>
            </a:pPr>
            <a:r>
              <a:rPr sz="1500" b="0" i="0">
                <a:solidFill>
                  <a:srgbClr val="FFFFFF"/>
                </a:solidFill>
                <a:latin typeface="Microsoft YaHei"/>
                <a:ea typeface="Microsoft YaHei"/>
              </a:rPr>
              <a:t>五章内容，跟随一个真实的</a:t>
            </a:r>
          </a:p>
          <a:p>
            <a:pPr algn="l">
              <a:lnSpc>
                <a:spcPct val="180000"/>
              </a:lnSpc>
            </a:pPr>
            <a:r>
              <a:rPr sz="1500" b="0" i="0">
                <a:solidFill>
                  <a:srgbClr val="FFFFFF"/>
                </a:solidFill>
                <a:latin typeface="Microsoft YaHei"/>
                <a:ea typeface="Microsoft YaHei"/>
              </a:rPr>
              <a:t>深度学习项目，完成从</a:t>
            </a:r>
          </a:p>
          <a:p>
            <a:pPr algn="l">
              <a:lnSpc>
                <a:spcPct val="180000"/>
              </a:lnSpc>
            </a:pPr>
            <a:r>
              <a:rPr sz="1500" b="0" i="0">
                <a:solidFill>
                  <a:srgbClr val="FFFFFF"/>
                </a:solidFill>
                <a:latin typeface="Microsoft YaHei"/>
                <a:ea typeface="Microsoft YaHei"/>
              </a:rPr>
              <a:t>临床问题到课堂任务的</a:t>
            </a:r>
          </a:p>
          <a:p>
            <a:pPr algn="l">
              <a:lnSpc>
                <a:spcPct val="180000"/>
              </a:lnSpc>
            </a:pPr>
            <a:r>
              <a:rPr sz="1500" b="0" i="0">
                <a:solidFill>
                  <a:srgbClr val="FFFFFF"/>
                </a:solidFill>
                <a:latin typeface="Microsoft YaHei"/>
                <a:ea typeface="Microsoft YaHei"/>
              </a:rPr>
              <a:t>完整闭环。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05500"/>
            <a:ext cx="2286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FFFFF"/>
                </a:solidFill>
                <a:latin typeface="Microsoft YaHei"/>
                <a:ea typeface="Microsoft YaHei"/>
              </a:rPr>
              <a:t>HC18 · 胎儿头围检测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05250" y="685800"/>
            <a:ext cx="7715250" cy="914400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71950" y="895350"/>
            <a:ext cx="495300" cy="495300"/>
          </a:xfrm>
          <a:prstGeom prst="roundRect">
            <a:avLst>
              <a:gd name="adj" fmla="val 18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71950" y="895350"/>
            <a:ext cx="495300" cy="4953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5850" y="838200"/>
            <a:ext cx="64770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A2230"/>
                </a:solidFill>
                <a:latin typeface="Microsoft YaHei"/>
                <a:ea typeface="Microsoft YaHei"/>
              </a:rPr>
              <a:t>临床背景与数据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5850" y="1200150"/>
            <a:ext cx="64770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4A5568"/>
                </a:solidFill>
                <a:latin typeface="Microsoft YaHei"/>
                <a:ea typeface="Microsoft YaHei"/>
              </a:rPr>
              <a:t>头围测量的临床意义 · HC18 数据集构成与统计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05250" y="1828800"/>
            <a:ext cx="7715250" cy="914400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171950" y="2038350"/>
            <a:ext cx="495300" cy="495300"/>
          </a:xfrm>
          <a:prstGeom prst="roundRect">
            <a:avLst>
              <a:gd name="adj" fmla="val 18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71950" y="2038350"/>
            <a:ext cx="495300" cy="4953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5850" y="1981200"/>
            <a:ext cx="64770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A2230"/>
                </a:solidFill>
                <a:latin typeface="Microsoft YaHei"/>
                <a:ea typeface="Microsoft YaHei"/>
              </a:rPr>
              <a:t>方法与技术路线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5850" y="2343150"/>
            <a:ext cx="64770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4A5568"/>
                </a:solidFill>
                <a:latin typeface="Microsoft YaHei"/>
                <a:ea typeface="Microsoft YaHei"/>
              </a:rPr>
              <a:t>标注转换 · YOLO 架构逐层精讲 · 损失函数 · 训练与评估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05250" y="2971800"/>
            <a:ext cx="7715250" cy="914400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171950" y="3181350"/>
            <a:ext cx="495300" cy="495300"/>
          </a:xfrm>
          <a:prstGeom prst="roundRect">
            <a:avLst>
              <a:gd name="adj" fmla="val 18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71950" y="3181350"/>
            <a:ext cx="495300" cy="4953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5850" y="3124200"/>
            <a:ext cx="64770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A2230"/>
                </a:solidFill>
                <a:latin typeface="Microsoft YaHei"/>
                <a:ea typeface="Microsoft YaHei"/>
              </a:rPr>
              <a:t>实验与结果分析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5850" y="3486150"/>
            <a:ext cx="64770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4A5568"/>
                </a:solidFill>
                <a:latin typeface="Microsoft YaHei"/>
                <a:ea typeface="Microsoft YaHei"/>
              </a:rPr>
              <a:t>训练曲线 · YOLOv8 vs YOLO11 性能对比 · 头围估计精度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05250" y="4114800"/>
            <a:ext cx="7715250" cy="914400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171950" y="4324350"/>
            <a:ext cx="495300" cy="495300"/>
          </a:xfrm>
          <a:prstGeom prst="roundRect">
            <a:avLst>
              <a:gd name="adj" fmla="val 18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71950" y="4324350"/>
            <a:ext cx="495300" cy="4953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5850" y="4267200"/>
            <a:ext cx="64770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A2230"/>
                </a:solidFill>
                <a:latin typeface="Microsoft YaHei"/>
                <a:ea typeface="Microsoft YaHei"/>
              </a:rPr>
              <a:t>课堂任务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5850" y="4629150"/>
            <a:ext cx="64770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4A5568"/>
                </a:solidFill>
                <a:latin typeface="Microsoft YaHei"/>
                <a:ea typeface="Microsoft YaHei"/>
              </a:rPr>
              <a:t>用 best.pt 对测试集完成一次完整的头围自动测量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905250" y="5257800"/>
            <a:ext cx="7715250" cy="914400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171950" y="5467350"/>
            <a:ext cx="495300" cy="495300"/>
          </a:xfrm>
          <a:prstGeom prst="roundRect">
            <a:avLst>
              <a:gd name="adj" fmla="val 18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71950" y="5467350"/>
            <a:ext cx="495300" cy="4953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95850" y="5410200"/>
            <a:ext cx="64770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A2230"/>
                </a:solidFill>
                <a:latin typeface="Microsoft YaHei"/>
                <a:ea typeface="Microsoft YaHei"/>
              </a:rPr>
              <a:t>总结与展望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95850" y="5772150"/>
            <a:ext cx="64770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4A5568"/>
                </a:solidFill>
                <a:latin typeface="Microsoft YaHei"/>
                <a:ea typeface="Microsoft YaHei"/>
              </a:rPr>
              <a:t>项目结论 · 后续改进方向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06000" y="6362700"/>
            <a:ext cx="1905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 i="0">
                <a:solidFill>
                  <a:srgbClr val="1E4FA8"/>
                </a:solidFill>
                <a:latin typeface="Microsoft YaHei"/>
                <a:ea typeface="Microsoft YaHei"/>
              </a:rPr>
              <a:t>02 / 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6250" y="381000"/>
            <a:ext cx="4762500" cy="2476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0" b="1" i="0">
                <a:solidFill>
                  <a:srgbClr val="E8EFF8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762250"/>
            <a:ext cx="6096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3D7BD9"/>
                </a:solidFill>
                <a:latin typeface="Microsoft YaHei"/>
                <a:ea typeface="Microsoft YaHei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067050"/>
            <a:ext cx="647700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0E3F8C"/>
                </a:solidFill>
                <a:latin typeface="Microsoft YaHei"/>
                <a:ea typeface="Microsoft YaHei"/>
              </a:rPr>
              <a:t>临床背景与数据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" y="3848100"/>
            <a:ext cx="857250" cy="571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9600" y="41910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7250" y="4114800"/>
            <a:ext cx="5905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1A2230"/>
                </a:solidFill>
                <a:latin typeface="Microsoft YaHei"/>
                <a:ea typeface="Microsoft YaHei"/>
              </a:rPr>
              <a:t>为什么头围（HC）是产前超声的核心测量指标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600" y="45720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7250" y="4495800"/>
            <a:ext cx="5905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1A2230"/>
                </a:solidFill>
                <a:latin typeface="Microsoft YaHei"/>
                <a:ea typeface="Microsoft YaHei"/>
              </a:rPr>
              <a:t>HC18 挑战赛数据集：999 训练 + 335 测试图像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600" y="49530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7250" y="4876800"/>
            <a:ext cx="5905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1A2230"/>
                </a:solidFill>
                <a:latin typeface="Microsoft YaHei"/>
                <a:ea typeface="Microsoft YaHei"/>
              </a:rPr>
              <a:t>像素尺寸与头围真值：评价以毫米为单位进行</a:t>
            </a:r>
          </a:p>
        </p:txBody>
      </p:sp>
      <p:pic>
        <p:nvPicPr>
          <p:cNvPr id="13" name="Picture 12" descr="sample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750" y="1905000"/>
            <a:ext cx="4095750" cy="2733675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524750" y="1905000"/>
            <a:ext cx="4095750" cy="2733675"/>
          </a:xfrm>
          <a:prstGeom prst="rect">
            <a:avLst/>
          </a:prstGeom>
          <a:noFill/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24750" y="4724400"/>
            <a:ext cx="40957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8B97A8"/>
                </a:solidFill>
                <a:latin typeface="Microsoft YaHei"/>
                <a:ea typeface="Microsoft YaHei"/>
              </a:rPr>
              <a:t>标准平面二维产前超声扫描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06000" y="6362700"/>
            <a:ext cx="1905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 i="0">
                <a:solidFill>
                  <a:srgbClr val="1E4FA8"/>
                </a:solidFill>
                <a:latin typeface="Microsoft YaHei"/>
                <a:ea typeface="Microsoft YaHei"/>
              </a:rPr>
              <a:t>03 / 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0"/>
            <a:ext cx="57150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FFFFFF"/>
                </a:solidFill>
                <a:latin typeface="Microsoft YaHei"/>
                <a:ea typeface="Microsoft YaHei"/>
              </a:rPr>
              <a:t>超声胎儿头围检测 · 教学课件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0" y="0"/>
            <a:ext cx="57150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0" i="0">
                <a:solidFill>
                  <a:srgbClr val="FFFFFF"/>
                </a:solidFill>
                <a:latin typeface="Microsoft YaHei"/>
                <a:ea typeface="Microsoft YaHei"/>
              </a:rPr>
              <a:t>第 1 章 · 临床背景与数据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914400"/>
            <a:ext cx="762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" b="0" i="0">
                <a:solidFill>
                  <a:srgbClr val="1A2230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1000" y="952500"/>
            <a:ext cx="76200" cy="304800"/>
          </a:xfrm>
          <a:prstGeom prst="roundRect">
            <a:avLst>
              <a:gd name="adj" fmla="val 3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06000" y="6362700"/>
            <a:ext cx="1905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 i="0">
                <a:solidFill>
                  <a:srgbClr val="1E4FA8"/>
                </a:solidFill>
                <a:latin typeface="Microsoft YaHei"/>
                <a:ea typeface="Microsoft YaHei"/>
              </a:rPr>
              <a:t>04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" y="6362700"/>
            <a:ext cx="5715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8B97A8"/>
                </a:solidFill>
                <a:latin typeface="Microsoft YaHei"/>
                <a:ea typeface="Microsoft YaHei"/>
              </a:rPr>
              <a:t>HC18 胎儿头围检测项目 · 肖雄涛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1000" y="952500"/>
            <a:ext cx="76200" cy="304800"/>
          </a:xfrm>
          <a:prstGeom prst="roundRect">
            <a:avLst>
              <a:gd name="adj" fmla="val 3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0550" y="876300"/>
            <a:ext cx="1000125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E3F8C"/>
                </a:solidFill>
                <a:latin typeface="Microsoft YaHei"/>
                <a:ea typeface="Microsoft YaHei"/>
              </a:rPr>
              <a:t>胎儿头围：产前超声评估的关键指标</a:t>
            </a:r>
          </a:p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8B97A8"/>
                </a:solidFill>
                <a:latin typeface="Microsoft YaHei"/>
                <a:ea typeface="Microsoft YaHei"/>
              </a:rPr>
              <a:t>  Head Circumference</a:t>
            </a:r>
          </a:p>
        </p:txBody>
      </p:sp>
      <p:pic>
        <p:nvPicPr>
          <p:cNvPr id="11" name="Picture 10" descr="sample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485900"/>
            <a:ext cx="5334000" cy="360045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381000" y="1485900"/>
            <a:ext cx="5334000" cy="3600450"/>
          </a:xfrm>
          <a:prstGeom prst="rect">
            <a:avLst/>
          </a:prstGeom>
          <a:noFill/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1000" y="5162550"/>
            <a:ext cx="53340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B97A8"/>
                </a:solidFill>
                <a:latin typeface="Microsoft YaHei"/>
                <a:ea typeface="Microsoft YaHei"/>
              </a:rPr>
              <a:t>HC18 训练样例 002_HC.png：胎头呈类椭圆回声结构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1485900"/>
            <a:ext cx="5867400" cy="1238250"/>
          </a:xfrm>
          <a:prstGeom prst="roundRect">
            <a:avLst>
              <a:gd name="adj" fmla="val 10000"/>
            </a:avLst>
          </a:prstGeom>
          <a:solidFill>
            <a:srgbClr val="F0F5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34100" y="1638300"/>
            <a:ext cx="285750" cy="285750"/>
          </a:xfrm>
          <a:prstGeom prst="roundRect">
            <a:avLst>
              <a:gd name="adj" fmla="val 25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34100" y="1638300"/>
            <a:ext cx="28575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4150" y="1619250"/>
            <a:ext cx="51435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E3F8C"/>
                </a:solidFill>
                <a:latin typeface="Microsoft YaHei"/>
                <a:ea typeface="Microsoft YaHei"/>
              </a:rPr>
              <a:t>发育监测的核心参数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34100" y="1981200"/>
            <a:ext cx="548640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A5568"/>
                </a:solidFill>
                <a:latin typeface="Microsoft YaHei"/>
                <a:ea typeface="Microsoft YaHei"/>
              </a:rPr>
              <a:t>头围（HC）反映胎儿脑发育情况，与双顶径、股骨长共同构成产前生长评估体系，用于核对孕周、筛查小头畸形与巨头等生长异常。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2857500"/>
            <a:ext cx="5867400" cy="1238250"/>
          </a:xfrm>
          <a:prstGeom prst="roundRect">
            <a:avLst>
              <a:gd name="adj" fmla="val 10000"/>
            </a:avLst>
          </a:prstGeom>
          <a:solidFill>
            <a:srgbClr val="F0F5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34100" y="3009900"/>
            <a:ext cx="285750" cy="285750"/>
          </a:xfrm>
          <a:prstGeom prst="roundRect">
            <a:avLst>
              <a:gd name="adj" fmla="val 25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34100" y="3009900"/>
            <a:ext cx="28575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4150" y="2990850"/>
            <a:ext cx="51435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E3F8C"/>
                </a:solidFill>
                <a:latin typeface="Microsoft YaHei"/>
                <a:ea typeface="Microsoft YaHei"/>
              </a:rPr>
              <a:t>测量依赖标准平面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34100" y="3352800"/>
            <a:ext cx="548640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A5568"/>
                </a:solidFill>
                <a:latin typeface="Microsoft YaHei"/>
                <a:ea typeface="Microsoft YaHei"/>
              </a:rPr>
              <a:t>规范测法要求在丘脑平面获取胎头横切面，沿颅骨外缘描绘椭圆并读取周长——平面的获取与描迹都依赖医师经验。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0" y="4229100"/>
            <a:ext cx="5867400" cy="1238250"/>
          </a:xfrm>
          <a:prstGeom prst="roundRect">
            <a:avLst>
              <a:gd name="adj" fmla="val 10000"/>
            </a:avLst>
          </a:prstGeom>
          <a:solidFill>
            <a:srgbClr val="F0F5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34100" y="4381500"/>
            <a:ext cx="285750" cy="285750"/>
          </a:xfrm>
          <a:prstGeom prst="roundRect">
            <a:avLst>
              <a:gd name="adj" fmla="val 25000"/>
            </a:avLst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34100" y="4381500"/>
            <a:ext cx="28575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4150" y="4362450"/>
            <a:ext cx="51435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E3F8C"/>
                </a:solidFill>
                <a:latin typeface="Microsoft YaHei"/>
                <a:ea typeface="Microsoft YaHei"/>
              </a:rPr>
              <a:t>人工测量的局限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34100" y="4724400"/>
            <a:ext cx="548640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A5568"/>
                </a:solidFill>
                <a:latin typeface="Microsoft YaHei"/>
                <a:ea typeface="Microsoft YaHei"/>
              </a:rPr>
              <a:t>手动描迹存在操作者间差异，大样本筛查耗时耗力。用深度学习自动定位胎头并估计头围，可同时提升效率与一致性。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1000" y="5638800"/>
            <a:ext cx="11430000" cy="514350"/>
          </a:xfrm>
          <a:prstGeom prst="roundRect">
            <a:avLst>
              <a:gd name="adj" fmla="val 12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9600" y="5638800"/>
            <a:ext cx="1097280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Microsoft YaHei"/>
                <a:ea typeface="Microsoft YaHei"/>
              </a:rPr>
              <a:t>本章问题：</a:t>
            </a:r>
            <a:r>
              <a:rPr sz="1900" b="0" i="0">
                <a:solidFill>
                  <a:srgbClr val="0E3F8C"/>
                </a:solidFill>
                <a:latin typeface="Microsoft YaHei"/>
                <a:ea typeface="Microsoft YaHei"/>
              </a:rPr>
              <a:t>能否让模型像医师一样，从一张超声图像中自动找到胎头并算出头围？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0"/>
            <a:ext cx="57150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FFFFFF"/>
                </a:solidFill>
                <a:latin typeface="Microsoft YaHei"/>
                <a:ea typeface="Microsoft YaHei"/>
              </a:rPr>
              <a:t>超声胎儿头围检测 · 教学课件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0" y="0"/>
            <a:ext cx="57150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0" i="0">
                <a:solidFill>
                  <a:srgbClr val="FFFFFF"/>
                </a:solidFill>
                <a:latin typeface="Microsoft YaHei"/>
                <a:ea typeface="Microsoft YaHei"/>
              </a:rPr>
              <a:t>第 1 章 · 临床背景与数据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914400"/>
            <a:ext cx="762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" b="0" i="0">
                <a:solidFill>
                  <a:srgbClr val="1A2230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1000" y="952500"/>
            <a:ext cx="76200" cy="304800"/>
          </a:xfrm>
          <a:prstGeom prst="roundRect">
            <a:avLst>
              <a:gd name="adj" fmla="val 3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06000" y="6362700"/>
            <a:ext cx="1905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 i="0">
                <a:solidFill>
                  <a:srgbClr val="1E4FA8"/>
                </a:solidFill>
                <a:latin typeface="Microsoft YaHei"/>
                <a:ea typeface="Microsoft YaHei"/>
              </a:rPr>
              <a:t>05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" y="6362700"/>
            <a:ext cx="5715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8B97A8"/>
                </a:solidFill>
                <a:latin typeface="Microsoft YaHei"/>
                <a:ea typeface="Microsoft YaHei"/>
              </a:rPr>
              <a:t>HC18 胎儿头围检测项目 · 肖雄涛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1000" y="952500"/>
            <a:ext cx="76200" cy="304800"/>
          </a:xfrm>
          <a:prstGeom prst="roundRect">
            <a:avLst>
              <a:gd name="adj" fmla="val 3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0550" y="876300"/>
            <a:ext cx="1000125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E3F8C"/>
                </a:solidFill>
                <a:latin typeface="Microsoft YaHei"/>
                <a:ea typeface="Microsoft YaHei"/>
              </a:rPr>
              <a:t>HC18 数据集：ISBI 2018 挑战赛</a:t>
            </a:r>
          </a:p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8B97A8"/>
                </a:solidFill>
                <a:latin typeface="Microsoft YaHei"/>
                <a:ea typeface="Microsoft YaHei"/>
              </a:rPr>
              <a:t>  来源：Zenodo · records/1327317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1485900"/>
            <a:ext cx="1847850" cy="1428750"/>
          </a:xfrm>
          <a:prstGeom prst="roundRect">
            <a:avLst>
              <a:gd name="adj" fmla="val 10000"/>
            </a:avLst>
          </a:prstGeom>
          <a:solidFill>
            <a:srgbClr val="F0F5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2450" y="1600200"/>
            <a:ext cx="1524000" cy="723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1" i="0">
                <a:solidFill>
                  <a:srgbClr val="1E4FA8"/>
                </a:solidFill>
                <a:latin typeface="Microsoft YaHei"/>
                <a:ea typeface="Microsoft YaHei"/>
              </a:rPr>
              <a:t>999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2450" y="2381250"/>
            <a:ext cx="15621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A5568"/>
                </a:solidFill>
                <a:latin typeface="Microsoft YaHei"/>
                <a:ea typeface="Microsoft YaHei"/>
              </a:rPr>
              <a:t>训练图像（含掩膜标注）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09825" y="1485900"/>
            <a:ext cx="1847850" cy="1428750"/>
          </a:xfrm>
          <a:prstGeom prst="roundRect">
            <a:avLst>
              <a:gd name="adj" fmla="val 10000"/>
            </a:avLst>
          </a:prstGeom>
          <a:solidFill>
            <a:srgbClr val="F0F5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81275" y="1600200"/>
            <a:ext cx="1524000" cy="723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1" i="0">
                <a:solidFill>
                  <a:srgbClr val="1E4FA8"/>
                </a:solidFill>
                <a:latin typeface="Microsoft YaHei"/>
                <a:ea typeface="Microsoft YaHei"/>
              </a:rPr>
              <a:t>335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81275" y="2381250"/>
            <a:ext cx="15621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A5568"/>
                </a:solidFill>
                <a:latin typeface="Microsoft YaHei"/>
                <a:ea typeface="Microsoft YaHei"/>
              </a:rPr>
              <a:t>测试图像（无标注）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8650" y="1485900"/>
            <a:ext cx="1847850" cy="1428750"/>
          </a:xfrm>
          <a:prstGeom prst="roundRect">
            <a:avLst>
              <a:gd name="adj" fmla="val 10000"/>
            </a:avLst>
          </a:prstGeom>
          <a:solidFill>
            <a:srgbClr val="F0F5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0100" y="1600200"/>
            <a:ext cx="1524000" cy="723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1" i="0">
                <a:solidFill>
                  <a:srgbClr val="1E4FA8"/>
                </a:solidFill>
                <a:latin typeface="Microsoft YaHei"/>
                <a:ea typeface="Microsoft YaHei"/>
              </a:rPr>
              <a:t>806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0100" y="2381250"/>
            <a:ext cx="15621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A5568"/>
                </a:solidFill>
                <a:latin typeface="Microsoft YaHei"/>
                <a:ea typeface="Microsoft YaHei"/>
              </a:rPr>
              <a:t>位病人（部分含多次扫描）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1000" y="3067050"/>
            <a:ext cx="5905500" cy="15049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500" y="3219450"/>
            <a:ext cx="5524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0E3F8C"/>
                </a:solidFill>
                <a:latin typeface="Microsoft YaHei"/>
                <a:ea typeface="Microsoft YaHei"/>
              </a:rPr>
              <a:t>数据规格与官方真值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" y="3543300"/>
            <a:ext cx="5524500" cy="952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A5568"/>
                </a:solidFill>
                <a:latin typeface="Microsoft YaHei"/>
                <a:ea typeface="Microsoft YaHei"/>
              </a:rPr>
              <a:t>· 800×540 单通道灰度超声图像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A5568"/>
                </a:solidFill>
                <a:latin typeface="Microsoft YaHei"/>
                <a:ea typeface="Microsoft YaHei"/>
              </a:rPr>
              <a:t>· 官方提供每张图的像素尺寸 0.049–0.393 mm/px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A5568"/>
                </a:solidFill>
                <a:latin typeface="Microsoft YaHei"/>
                <a:ea typeface="Microsoft YaHei"/>
              </a:rPr>
              <a:t>· 头围真值范围 44.3 – 346.4 mm（均值 174.4 mm）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A5568"/>
                </a:solidFill>
                <a:latin typeface="Microsoft YaHei"/>
                <a:ea typeface="Microsoft YaHei"/>
              </a:rPr>
              <a:t>· 覆盖不同孕龄、图像质量与超声伪影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1000" y="4724400"/>
            <a:ext cx="5905500" cy="1047750"/>
          </a:xfrm>
          <a:prstGeom prst="roundRect">
            <a:avLst>
              <a:gd name="adj" fmla="val 8000"/>
            </a:avLst>
          </a:prstGeom>
          <a:solidFill>
            <a:srgbClr val="E8EFF8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1500" y="4838700"/>
            <a:ext cx="5524500" cy="857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 i="0">
                <a:solidFill>
                  <a:srgbClr val="0E3F8C"/>
                </a:solidFill>
                <a:latin typeface="Microsoft YaHei"/>
                <a:ea typeface="Microsoft YaHei"/>
              </a:rPr>
              <a:t>关键设计：</a:t>
            </a:r>
            <a:r>
              <a:rPr sz="1400" b="0" i="0">
                <a:solidFill>
                  <a:srgbClr val="0E3F8C"/>
                </a:solidFill>
                <a:latin typeface="Microsoft YaHei"/>
                <a:ea typeface="Microsoft YaHei"/>
              </a:rPr>
              <a:t>按病人而非按图像划分训练 / 验证集（793 / 206），避免同一病人的多张扫描同时出现在两端，造成数据泄漏与虚高的评估结果。</a:t>
            </a:r>
          </a:p>
        </p:txBody>
      </p:sp>
      <p:pic>
        <p:nvPicPr>
          <p:cNvPr id="25" name="Picture 24" descr="labels_yolo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0" y="1485900"/>
            <a:ext cx="3810000" cy="381000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6667500" y="1485900"/>
            <a:ext cx="3810000" cy="3810000"/>
          </a:xfrm>
          <a:prstGeom prst="rect">
            <a:avLst/>
          </a:prstGeom>
          <a:noFill/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67500" y="5372100"/>
            <a:ext cx="3810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8B97A8"/>
                </a:solidFill>
                <a:latin typeface="Microsoft YaHei"/>
                <a:ea typeface="Microsoft YaHei"/>
              </a:rPr>
              <a:t>训练集检测框分布：目标居中、宽高强相关（类椭圆）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6250" y="381000"/>
            <a:ext cx="4762500" cy="2476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0" b="1" i="0">
                <a:solidFill>
                  <a:srgbClr val="E8EFF8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762250"/>
            <a:ext cx="6096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3D7BD9"/>
                </a:solidFill>
                <a:latin typeface="Microsoft YaHei"/>
                <a:ea typeface="Microsoft YaHei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067050"/>
            <a:ext cx="647700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0E3F8C"/>
                </a:solidFill>
                <a:latin typeface="Microsoft YaHei"/>
                <a:ea typeface="Microsoft YaHei"/>
              </a:rPr>
              <a:t>方法与技术路线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" y="3848100"/>
            <a:ext cx="857250" cy="571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9600" y="41910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7250" y="4114800"/>
            <a:ext cx="5905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1A2230"/>
                </a:solidFill>
                <a:latin typeface="Microsoft YaHei"/>
                <a:ea typeface="Microsoft YaHei"/>
              </a:rPr>
              <a:t>技术路线总览：从掩膜标注到毫米级头围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600" y="45720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7250" y="4495800"/>
            <a:ext cx="5905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1A2230"/>
                </a:solidFill>
                <a:latin typeface="Microsoft YaHei"/>
                <a:ea typeface="Microsoft YaHei"/>
              </a:rPr>
              <a:t>数据预处理：椭圆拟合与 YOLO 标签生成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600" y="49530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7250" y="4876800"/>
            <a:ext cx="5905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1A2230"/>
                </a:solidFill>
                <a:latin typeface="Microsoft YaHei"/>
                <a:ea typeface="Microsoft YaHei"/>
              </a:rPr>
              <a:t>YOLO 网络架构与统一超参数训练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600" y="53340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250" y="5257800"/>
            <a:ext cx="5905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1A2230"/>
                </a:solidFill>
                <a:latin typeface="Microsoft YaHei"/>
                <a:ea typeface="Microsoft YaHei"/>
              </a:rPr>
              <a:t>评价指标：检测精度 + 头围测量误差</a:t>
            </a:r>
          </a:p>
        </p:txBody>
      </p:sp>
      <p:pic>
        <p:nvPicPr>
          <p:cNvPr id="15" name="Picture 14" descr="sample_m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750" y="1905000"/>
            <a:ext cx="4095750" cy="2733675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7524750" y="1905000"/>
            <a:ext cx="4095750" cy="2733675"/>
          </a:xfrm>
          <a:prstGeom prst="rect">
            <a:avLst/>
          </a:prstGeom>
          <a:noFill/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24750" y="4724400"/>
            <a:ext cx="40957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8B97A8"/>
                </a:solidFill>
                <a:latin typeface="Microsoft YaHei"/>
                <a:ea typeface="Microsoft YaHei"/>
              </a:rPr>
              <a:t>HC18 官方标注：胎头椭圆轮廓线掩膜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0" y="6362700"/>
            <a:ext cx="1905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 i="0">
                <a:solidFill>
                  <a:srgbClr val="1E4FA8"/>
                </a:solidFill>
                <a:latin typeface="Microsoft YaHei"/>
                <a:ea typeface="Microsoft YaHei"/>
              </a:rPr>
              <a:t>06 / 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0"/>
            <a:ext cx="57150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FFFFFF"/>
                </a:solidFill>
                <a:latin typeface="Microsoft YaHei"/>
                <a:ea typeface="Microsoft YaHei"/>
              </a:rPr>
              <a:t>超声胎儿头围检测 · 教学课件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0" y="0"/>
            <a:ext cx="57150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0" i="0">
                <a:solidFill>
                  <a:srgbClr val="FFFFFF"/>
                </a:solidFill>
                <a:latin typeface="Microsoft YaHei"/>
                <a:ea typeface="Microsoft YaHei"/>
              </a:rPr>
              <a:t>第 2 章 · 方法与技术路线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914400"/>
            <a:ext cx="762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" b="0" i="0">
                <a:solidFill>
                  <a:srgbClr val="1A2230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1000" y="952500"/>
            <a:ext cx="76200" cy="304800"/>
          </a:xfrm>
          <a:prstGeom prst="roundRect">
            <a:avLst>
              <a:gd name="adj" fmla="val 3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06000" y="6362700"/>
            <a:ext cx="1905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 i="0">
                <a:solidFill>
                  <a:srgbClr val="1E4FA8"/>
                </a:solidFill>
                <a:latin typeface="Microsoft YaHei"/>
                <a:ea typeface="Microsoft YaHei"/>
              </a:rPr>
              <a:t>07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" y="6362700"/>
            <a:ext cx="5715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8B97A8"/>
                </a:solidFill>
                <a:latin typeface="Microsoft YaHei"/>
                <a:ea typeface="Microsoft YaHei"/>
              </a:rPr>
              <a:t>HC18 胎儿头围检测项目 · 肖雄涛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1000" y="952500"/>
            <a:ext cx="76200" cy="304800"/>
          </a:xfrm>
          <a:prstGeom prst="roundRect">
            <a:avLst>
              <a:gd name="adj" fmla="val 3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0550" y="876300"/>
            <a:ext cx="104775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E3F8C"/>
                </a:solidFill>
                <a:latin typeface="Microsoft YaHei"/>
                <a:ea typeface="Microsoft YaHei"/>
              </a:rPr>
              <a:t>技术路线：从掩膜标注到毫米级头围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1619250"/>
            <a:ext cx="1905000" cy="800100"/>
          </a:xfrm>
          <a:prstGeom prst="roundRect">
            <a:avLst>
              <a:gd name="adj" fmla="val 16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" y="1619250"/>
            <a:ext cx="1905000" cy="800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FFFFFF"/>
                </a:solidFill>
                <a:latin typeface="Microsoft YaHei"/>
                <a:ea typeface="Microsoft YaHei"/>
              </a:rPr>
              <a:t>① 掩膜标注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" y="2514600"/>
            <a:ext cx="19050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4A5568"/>
                </a:solidFill>
                <a:latin typeface="Microsoft YaHei"/>
                <a:ea typeface="Microsoft YaHei"/>
              </a:rPr>
              <a:t>读取二值掩膜</a:t>
            </a:r>
          </a:p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4A5568"/>
                </a:solidFill>
                <a:latin typeface="Microsoft YaHei"/>
                <a:ea typeface="Microsoft YaHei"/>
              </a:rPr>
              <a:t>白色像素为轮廓线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362200" y="1866900"/>
            <a:ext cx="323850" cy="3048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686050" y="1619250"/>
            <a:ext cx="1905000" cy="800100"/>
          </a:xfrm>
          <a:prstGeom prst="roundRect">
            <a:avLst>
              <a:gd name="adj" fmla="val 16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86050" y="1619250"/>
            <a:ext cx="1905000" cy="800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FFFFFF"/>
                </a:solidFill>
                <a:latin typeface="Microsoft YaHei"/>
                <a:ea typeface="Microsoft YaHei"/>
              </a:rPr>
              <a:t>② 椭圆拟合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86050" y="2514600"/>
            <a:ext cx="19050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4A5568"/>
                </a:solidFill>
                <a:latin typeface="Microsoft YaHei"/>
                <a:ea typeface="Microsoft YaHei"/>
              </a:rPr>
              <a:t>cv2.fitEllipse</a:t>
            </a:r>
          </a:p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4A5568"/>
                </a:solidFill>
                <a:latin typeface="Microsoft YaHei"/>
                <a:ea typeface="Microsoft YaHei"/>
              </a:rPr>
              <a:t>得中心 / 半轴 / 角度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667250" y="1866900"/>
            <a:ext cx="323850" cy="3048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991100" y="1619250"/>
            <a:ext cx="1905000" cy="800100"/>
          </a:xfrm>
          <a:prstGeom prst="roundRect">
            <a:avLst>
              <a:gd name="adj" fmla="val 16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91100" y="1619250"/>
            <a:ext cx="1905000" cy="800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FFFFFF"/>
                </a:solidFill>
                <a:latin typeface="Microsoft YaHei"/>
                <a:ea typeface="Microsoft YaHei"/>
              </a:rPr>
              <a:t>③ YOLO 标签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91100" y="2514600"/>
            <a:ext cx="19050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4A5568"/>
                </a:solidFill>
                <a:latin typeface="Microsoft YaHei"/>
                <a:ea typeface="Microsoft YaHei"/>
              </a:rPr>
              <a:t>外接矩形归一化</a:t>
            </a:r>
          </a:p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4A5568"/>
                </a:solidFill>
                <a:latin typeface="Microsoft YaHei"/>
                <a:ea typeface="Microsoft YaHei"/>
              </a:rPr>
              <a:t>class xc yc w h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972300" y="1866900"/>
            <a:ext cx="323850" cy="3048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296150" y="1619250"/>
            <a:ext cx="1905000" cy="800100"/>
          </a:xfrm>
          <a:prstGeom prst="roundRect">
            <a:avLst>
              <a:gd name="adj" fmla="val 16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96150" y="1619250"/>
            <a:ext cx="1905000" cy="800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FFFFFF"/>
                </a:solidFill>
                <a:latin typeface="Microsoft YaHei"/>
                <a:ea typeface="Microsoft YaHei"/>
              </a:rPr>
              <a:t>④ 训练对比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96150" y="2514600"/>
            <a:ext cx="19050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4A5568"/>
                </a:solidFill>
                <a:latin typeface="Microsoft YaHei"/>
                <a:ea typeface="Microsoft YaHei"/>
              </a:rPr>
              <a:t>同一超参数训练</a:t>
            </a:r>
          </a:p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4A5568"/>
                </a:solidFill>
                <a:latin typeface="Microsoft YaHei"/>
                <a:ea typeface="Microsoft YaHei"/>
              </a:rPr>
              <a:t>YOLOv8 / YOLO11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277350" y="1866900"/>
            <a:ext cx="323850" cy="3048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601200" y="1619250"/>
            <a:ext cx="1905000" cy="800100"/>
          </a:xfrm>
          <a:prstGeom prst="roundRect">
            <a:avLst>
              <a:gd name="adj" fmla="val 16000"/>
            </a:avLst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0" y="1619250"/>
            <a:ext cx="1905000" cy="800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FFFFFF"/>
                </a:solidFill>
                <a:latin typeface="Microsoft YaHei"/>
                <a:ea typeface="Microsoft YaHei"/>
              </a:rPr>
              <a:t>⑤ 头围估计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2514600"/>
            <a:ext cx="19050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4A5568"/>
                </a:solidFill>
                <a:latin typeface="Microsoft YaHei"/>
                <a:ea typeface="Microsoft YaHei"/>
              </a:rPr>
              <a:t>椭圆周长 × 像素尺寸</a:t>
            </a:r>
          </a:p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4A5568"/>
                </a:solidFill>
                <a:latin typeface="Microsoft YaHei"/>
                <a:ea typeface="Microsoft YaHei"/>
              </a:rPr>
              <a:t>换算为毫米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1000" y="3657600"/>
            <a:ext cx="3676650" cy="1257300"/>
          </a:xfrm>
          <a:prstGeom prst="roundRect">
            <a:avLst>
              <a:gd name="adj" fmla="val 6000"/>
            </a:avLst>
          </a:prstGeom>
          <a:solidFill>
            <a:srgbClr val="F0F5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1500" y="3790950"/>
            <a:ext cx="329565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0E3F8C"/>
                </a:solidFill>
                <a:latin typeface="Microsoft YaHei"/>
                <a:ea typeface="Microsoft YaHei"/>
              </a:rPr>
              <a:t>prepare_data.py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1500" y="4152900"/>
            <a:ext cx="3295650" cy="647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A5568"/>
                </a:solidFill>
                <a:latin typeface="Microsoft YaHei"/>
                <a:ea typeface="Microsoft YaHei"/>
              </a:rPr>
              <a:t>掩膜 → YOLO 标注转换、灰度图复制为 3 通道、按病人 8:2 划分训练 / 验证集。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57675" y="3657600"/>
            <a:ext cx="3676650" cy="1257300"/>
          </a:xfrm>
          <a:prstGeom prst="roundRect">
            <a:avLst>
              <a:gd name="adj" fmla="val 6000"/>
            </a:avLst>
          </a:prstGeom>
          <a:solidFill>
            <a:srgbClr val="F0F5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48175" y="3790950"/>
            <a:ext cx="329565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0E3F8C"/>
                </a:solidFill>
                <a:latin typeface="Microsoft YaHei"/>
                <a:ea typeface="Microsoft YaHei"/>
              </a:rPr>
              <a:t>train.py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48175" y="4152900"/>
            <a:ext cx="3295650" cy="647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A5568"/>
                </a:solidFill>
                <a:latin typeface="Microsoft YaHei"/>
                <a:ea typeface="Microsoft YaHei"/>
              </a:rPr>
              <a:t>封装 Ultralytics YOLO 训练接口，两个模型共享同一套超参数与数据。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34350" y="3657600"/>
            <a:ext cx="3676650" cy="1257300"/>
          </a:xfrm>
          <a:prstGeom prst="roundRect">
            <a:avLst>
              <a:gd name="adj" fmla="val 6000"/>
            </a:avLst>
          </a:prstGeom>
          <a:solidFill>
            <a:srgbClr val="F0F5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24850" y="3790950"/>
            <a:ext cx="329565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0E3F8C"/>
                </a:solidFill>
                <a:latin typeface="Microsoft YaHei"/>
                <a:ea typeface="Microsoft YaHei"/>
              </a:rPr>
              <a:t>compare.py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4850" y="4152900"/>
            <a:ext cx="3295650" cy="647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A5568"/>
                </a:solidFill>
                <a:latin typeface="Microsoft YaHei"/>
                <a:ea typeface="Microsoft YaHei"/>
              </a:rPr>
              <a:t>统一评估：检测指标 + 头围误差（MAD / DSC / 相关性）+ 对比图输出。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81000" y="5143500"/>
            <a:ext cx="11430000" cy="590550"/>
          </a:xfrm>
          <a:prstGeom prst="roundRect">
            <a:avLst>
              <a:gd name="adj" fmla="val 12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9600" y="5143500"/>
            <a:ext cx="10972800" cy="590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E3F8C"/>
                </a:solidFill>
                <a:latin typeface="Microsoft YaHei"/>
                <a:ea typeface="Microsoft YaHei"/>
              </a:rPr>
              <a:t>关键产物：</a:t>
            </a:r>
            <a:r>
              <a:rPr sz="1600" b="0" i="0">
                <a:solidFill>
                  <a:srgbClr val="0E3F8C"/>
                </a:solidFill>
                <a:latin typeface="Microsoft YaHei"/>
                <a:ea typeface="Microsoft YaHei"/>
              </a:rPr>
              <a:t>data/yolo/（图像 + 标签）· dataset.yaml（训练配置）· hc_ground_truth.csv（头围真值）· runs/comparison/（指标与逐图预测）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0"/>
            <a:ext cx="57150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FFFFFF"/>
                </a:solidFill>
                <a:latin typeface="Microsoft YaHei"/>
                <a:ea typeface="Microsoft YaHei"/>
              </a:rPr>
              <a:t>超声胎儿头围检测 · 教学课件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0" y="0"/>
            <a:ext cx="57150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0" i="0">
                <a:solidFill>
                  <a:srgbClr val="FFFFFF"/>
                </a:solidFill>
                <a:latin typeface="Microsoft YaHei"/>
                <a:ea typeface="Microsoft YaHei"/>
              </a:rPr>
              <a:t>第 2 章 · 方法与技术路线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914400"/>
            <a:ext cx="762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" b="0" i="0">
                <a:solidFill>
                  <a:srgbClr val="1A2230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1000" y="952500"/>
            <a:ext cx="76200" cy="304800"/>
          </a:xfrm>
          <a:prstGeom prst="roundRect">
            <a:avLst>
              <a:gd name="adj" fmla="val 3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06000" y="6362700"/>
            <a:ext cx="1905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 i="0">
                <a:solidFill>
                  <a:srgbClr val="1E4FA8"/>
                </a:solidFill>
                <a:latin typeface="Microsoft YaHei"/>
                <a:ea typeface="Microsoft YaHei"/>
              </a:rPr>
              <a:t>08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" y="6362700"/>
            <a:ext cx="5715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8B97A8"/>
                </a:solidFill>
                <a:latin typeface="Microsoft YaHei"/>
                <a:ea typeface="Microsoft YaHei"/>
              </a:rPr>
              <a:t>HC18 胎儿头围检测项目 · 肖雄涛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1000" y="952500"/>
            <a:ext cx="76200" cy="304800"/>
          </a:xfrm>
          <a:prstGeom prst="roundRect">
            <a:avLst>
              <a:gd name="adj" fmla="val 3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0550" y="876300"/>
            <a:ext cx="104775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E3F8C"/>
                </a:solidFill>
                <a:latin typeface="Microsoft YaHei"/>
                <a:ea typeface="Microsoft YaHei"/>
              </a:rPr>
              <a:t>数据预处理：掩膜轮廓 → YOLO 边界框</a:t>
            </a:r>
          </a:p>
        </p:txBody>
      </p:sp>
      <p:pic>
        <p:nvPicPr>
          <p:cNvPr id="11" name="Picture 10" descr="sample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485900"/>
            <a:ext cx="3257550" cy="220027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381000" y="1485900"/>
            <a:ext cx="3257550" cy="2200275"/>
          </a:xfrm>
          <a:prstGeom prst="rect">
            <a:avLst/>
          </a:prstGeom>
          <a:noFill/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1000" y="3733800"/>
            <a:ext cx="32575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4A5568"/>
                </a:solidFill>
                <a:latin typeface="Microsoft YaHei"/>
                <a:ea typeface="Microsoft YaHei"/>
              </a:rPr>
              <a:t>① 原始超声图像（800×540 灰度）</a:t>
            </a:r>
          </a:p>
        </p:txBody>
      </p:sp>
      <p:pic>
        <p:nvPicPr>
          <p:cNvPr id="14" name="Picture 13" descr="sample_ma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0950" y="1485900"/>
            <a:ext cx="3257550" cy="2200275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3790950" y="1485900"/>
            <a:ext cx="3257550" cy="2200275"/>
          </a:xfrm>
          <a:prstGeom prst="rect">
            <a:avLst/>
          </a:prstGeom>
          <a:noFill/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90950" y="3733800"/>
            <a:ext cx="32575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4A5568"/>
                </a:solidFill>
                <a:latin typeface="Microsoft YaHei"/>
                <a:ea typeface="Microsoft YaHei"/>
              </a:rPr>
              <a:t>② 二值掩膜（白色 = 椭圆轮廓线）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1000" y="4076700"/>
            <a:ext cx="6667500" cy="2057400"/>
          </a:xfrm>
          <a:prstGeom prst="roundRect">
            <a:avLst>
              <a:gd name="adj" fmla="val 8000"/>
            </a:avLst>
          </a:prstGeom>
          <a:solidFill>
            <a:srgbClr val="F0F5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428750" y="4400550"/>
            <a:ext cx="3238500" cy="1143000"/>
          </a:xfrm>
          <a:prstGeom prst="rect">
            <a:avLst/>
          </a:prstGeom>
          <a:noFill/>
          <a:ln w="31750">
            <a:solidFill>
              <a:srgbClr val="1E4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 rot="20880000">
            <a:off x="1600200" y="4629150"/>
            <a:ext cx="2895600" cy="685800"/>
          </a:xfrm>
          <a:prstGeom prst="ellipse">
            <a:avLst/>
          </a:prstGeom>
          <a:solidFill>
            <a:srgbClr val="3D7BD9">
              <a:alpha val="20000"/>
            </a:srgbClr>
          </a:solidFill>
          <a:ln w="25400">
            <a:solidFill>
              <a:srgbClr val="3D7B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019425" y="49339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0" y="4629150"/>
            <a:ext cx="22860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D9534F"/>
                </a:solidFill>
                <a:latin typeface="Microsoft YaHei"/>
                <a:ea typeface="Microsoft YaHei"/>
              </a:rPr>
              <a:t>拟合椭圆中心 (cx, cy)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28750" y="4191000"/>
            <a:ext cx="3238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E4FA8"/>
                </a:solidFill>
                <a:latin typeface="Microsoft YaHei"/>
                <a:ea typeface="Microsoft YaHei"/>
              </a:rPr>
              <a:t>外接矩形 = 检测框 (x, y, w, h)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10000" y="5600700"/>
            <a:ext cx="314325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E3F8C"/>
                </a:solidFill>
                <a:latin typeface="Microsoft YaHei"/>
                <a:ea typeface="Microsoft YaHei"/>
              </a:rPr>
              <a:t>半轴 a, b → 椭圆周长 = 头围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1000" y="5810250"/>
            <a:ext cx="66675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B97A8"/>
                </a:solidFill>
                <a:latin typeface="Microsoft YaHei"/>
                <a:ea typeface="Microsoft YaHei"/>
              </a:rPr>
              <a:t>③ 几何换算：框用于训练，椭圆用于测量头围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00900" y="1485900"/>
            <a:ext cx="4610100" cy="1200150"/>
          </a:xfrm>
          <a:prstGeom prst="roundRect">
            <a:avLst>
              <a:gd name="adj" fmla="val 6000"/>
            </a:avLst>
          </a:prstGeom>
          <a:solidFill>
            <a:srgbClr val="F0F5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91400" y="1619250"/>
            <a:ext cx="42291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E3F8C"/>
                </a:solidFill>
                <a:latin typeface="Microsoft YaHei"/>
                <a:ea typeface="Microsoft YaHei"/>
              </a:rPr>
              <a:t>处理流程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91400" y="1981200"/>
            <a:ext cx="4229100" cy="590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4A5568"/>
                </a:solidFill>
                <a:latin typeface="Microsoft YaHei"/>
                <a:ea typeface="Microsoft YaHei"/>
              </a:rPr>
              <a:t>findContours 提轮廓 → boundingRect 得外接框 → fitEllipse 得中心 / 半轴 / 角度 → 灰度复制 3 通道 → 按病人 8:2 划分。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00900" y="2800350"/>
            <a:ext cx="4610100" cy="1352550"/>
          </a:xfrm>
          <a:prstGeom prst="roundRect">
            <a:avLst>
              <a:gd name="adj" fmla="val 8000"/>
            </a:avLst>
          </a:prstGeom>
          <a:solidFill>
            <a:srgbClr val="F0F5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91400" y="2914650"/>
            <a:ext cx="42291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E3F8C"/>
                </a:solidFill>
                <a:latin typeface="Microsoft YaHei"/>
                <a:ea typeface="Microsoft YaHei"/>
              </a:rPr>
              <a:t>椭圆周长（拉马努金二阶近似）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91400" y="3238500"/>
            <a:ext cx="4229100" cy="552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 i="0">
                <a:solidFill>
                  <a:srgbClr val="1A2230"/>
                </a:solidFill>
                <a:latin typeface="Microsoft YaHei"/>
                <a:ea typeface="Microsoft YaHei"/>
              </a:rPr>
              <a:t>HC = π(a+b) · [1 + 3h / (10 + √(4−3h))]</a:t>
            </a:r>
          </a:p>
          <a:p>
            <a:pPr algn="l">
              <a:lnSpc>
                <a:spcPct val="150000"/>
              </a:lnSpc>
            </a:pPr>
            <a:r>
              <a:rPr sz="1600" b="0" i="0">
                <a:solidFill>
                  <a:srgbClr val="1A2230"/>
                </a:solidFill>
                <a:latin typeface="Microsoft YaHei"/>
                <a:ea typeface="Microsoft YaHei"/>
              </a:rPr>
              <a:t>h = ((a−b)/(a+b))²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91400" y="3848100"/>
            <a:ext cx="42291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B97A8"/>
                </a:solidFill>
                <a:latin typeface="Microsoft YaHei"/>
                <a:ea typeface="Microsoft YaHei"/>
              </a:rPr>
              <a:t>a、b 为椭圆半轴长，出自 prepare_data.py 源码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00900" y="4267200"/>
            <a:ext cx="4610100" cy="1200150"/>
          </a:xfrm>
          <a:prstGeom prst="roundRect">
            <a:avLst>
              <a:gd name="adj" fmla="val 8000"/>
            </a:avLst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91400" y="4381500"/>
            <a:ext cx="42291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</a:rPr>
              <a:t>YOLO 标签示例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1400" y="4686300"/>
            <a:ext cx="4229100" cy="495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FFFFFF"/>
                </a:solidFill>
                <a:latin typeface="Consolas"/>
                <a:ea typeface="Consolas"/>
              </a:rPr>
              <a:t>0 0.504375 0.412037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FFFFFF"/>
                </a:solidFill>
                <a:latin typeface="Consolas"/>
                <a:ea typeface="Consolas"/>
              </a:rPr>
              <a:t>    0.283750 0.331481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91400" y="5200650"/>
            <a:ext cx="42291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Microsoft YaHei"/>
                <a:ea typeface="Microsoft YaHei"/>
              </a:rPr>
              <a:t>class x_center y_center width height（归一化）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0"/>
            <a:ext cx="57150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FFFFFF"/>
                </a:solidFill>
                <a:latin typeface="Microsoft YaHei"/>
                <a:ea typeface="Microsoft YaHei"/>
              </a:rPr>
              <a:t>超声胎儿头围检测 · 教学课件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0" y="0"/>
            <a:ext cx="57150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0" i="0">
                <a:solidFill>
                  <a:srgbClr val="FFFFFF"/>
                </a:solidFill>
                <a:latin typeface="Microsoft YaHei"/>
                <a:ea typeface="Microsoft YaHei"/>
              </a:rPr>
              <a:t>第 2 章 · 方法与技术路线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914400"/>
            <a:ext cx="762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" b="0" i="0">
                <a:solidFill>
                  <a:srgbClr val="1A2230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1000" y="952500"/>
            <a:ext cx="76200" cy="304800"/>
          </a:xfrm>
          <a:prstGeom prst="roundRect">
            <a:avLst>
              <a:gd name="adj" fmla="val 3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06000" y="6362700"/>
            <a:ext cx="1905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 i="0">
                <a:solidFill>
                  <a:srgbClr val="1E4FA8"/>
                </a:solidFill>
                <a:latin typeface="Microsoft YaHei"/>
                <a:ea typeface="Microsoft YaHei"/>
              </a:rPr>
              <a:t>09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" y="6362700"/>
            <a:ext cx="5715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8B97A8"/>
                </a:solidFill>
                <a:latin typeface="Microsoft YaHei"/>
                <a:ea typeface="Microsoft YaHei"/>
              </a:rPr>
              <a:t>HC18 胎儿头围检测项目 · 肖雄涛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1000" y="952500"/>
            <a:ext cx="76200" cy="304800"/>
          </a:xfrm>
          <a:prstGeom prst="roundRect">
            <a:avLst>
              <a:gd name="adj" fmla="val 3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0550" y="876300"/>
            <a:ext cx="1000125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E3F8C"/>
                </a:solidFill>
                <a:latin typeface="Microsoft YaHei"/>
                <a:ea typeface="Microsoft YaHei"/>
              </a:rPr>
              <a:t>YOLO 网络架构总览：一图看懂数据流</a:t>
            </a:r>
          </a:p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8B97A8"/>
                </a:solidFill>
                <a:latin typeface="Microsoft YaHei"/>
                <a:ea typeface="Microsoft YaHei"/>
              </a:rPr>
              <a:t>  YOLOv8 / YOLO11 同源结构</a:t>
            </a:r>
          </a:p>
        </p:txBody>
      </p:sp>
      <p:pic>
        <p:nvPicPr>
          <p:cNvPr id="11" name="Picture 10" descr="arch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409700"/>
            <a:ext cx="9753600" cy="466725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219200" y="1409700"/>
            <a:ext cx="9753600" cy="4667250"/>
          </a:xfrm>
          <a:prstGeom prst="rect">
            <a:avLst/>
          </a:prstGeom>
          <a:noFill/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1000" y="6134100"/>
            <a:ext cx="114300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8B97A8"/>
                </a:solidFill>
                <a:latin typeface="Microsoft YaHei"/>
                <a:ea typeface="Microsoft YaHei"/>
              </a:rPr>
              <a:t>整体数据流：Backbone 五级下采样提特征 → FPN + PAN 双向融合 → 三尺度解耦头 → 解码与 NMS（示意图，通道按 n 规模标注）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0"/>
            <a:ext cx="57150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FFFFFF"/>
                </a:solidFill>
                <a:latin typeface="Microsoft YaHei"/>
                <a:ea typeface="Microsoft YaHei"/>
              </a:rPr>
              <a:t>超声胎儿头围检测 · 教学课件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0" y="0"/>
            <a:ext cx="57150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0" i="0">
                <a:solidFill>
                  <a:srgbClr val="FFFFFF"/>
                </a:solidFill>
                <a:latin typeface="Microsoft YaHei"/>
                <a:ea typeface="Microsoft YaHei"/>
              </a:rPr>
              <a:t>第 2 章 · 方法与技术路线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914400"/>
            <a:ext cx="762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" b="0" i="0">
                <a:solidFill>
                  <a:srgbClr val="1A2230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1000" y="952500"/>
            <a:ext cx="76200" cy="304800"/>
          </a:xfrm>
          <a:prstGeom prst="roundRect">
            <a:avLst>
              <a:gd name="adj" fmla="val 3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06000" y="6362700"/>
            <a:ext cx="1905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 i="0">
                <a:solidFill>
                  <a:srgbClr val="1E4FA8"/>
                </a:solidFill>
                <a:latin typeface="Microsoft YaHei"/>
                <a:ea typeface="Microsoft YaHei"/>
              </a:rPr>
              <a:t>10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" y="6362700"/>
            <a:ext cx="5715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8B97A8"/>
                </a:solidFill>
                <a:latin typeface="Microsoft YaHei"/>
                <a:ea typeface="Microsoft YaHei"/>
              </a:rPr>
              <a:t>HC18 胎儿头围检测项目 · 肖雄涛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1000" y="952500"/>
            <a:ext cx="76200" cy="304800"/>
          </a:xfrm>
          <a:prstGeom prst="roundRect">
            <a:avLst>
              <a:gd name="adj" fmla="val 3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0550" y="876300"/>
            <a:ext cx="104775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E3F8C"/>
                </a:solidFill>
                <a:latin typeface="Microsoft YaHei"/>
                <a:ea typeface="Microsoft YaHei"/>
              </a:rPr>
              <a:t>Backbone：特征是怎么一层层提炼的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81000" y="1485900"/>
          <a:ext cx="6667500" cy="2628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7250"/>
                <a:gridCol w="2286000"/>
                <a:gridCol w="1143000"/>
                <a:gridCol w="2381250"/>
              </a:tblGrid>
              <a:tr h="438150"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层级</a:t>
                      </a:r>
                    </a:p>
                  </a:txBody>
                  <a:tcPr marL="76200" marR="76200" marT="19050" marB="19050" anchor="ctr">
                    <a:solidFill>
                      <a:srgbClr val="1E4FA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模块</a:t>
                      </a:r>
                    </a:p>
                  </a:txBody>
                  <a:tcPr marL="76200" marR="76200" marT="19050" marB="19050" anchor="ctr">
                    <a:solidFill>
                      <a:srgbClr val="1E4FA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输出尺寸</a:t>
                      </a:r>
                    </a:p>
                  </a:txBody>
                  <a:tcPr marL="76200" marR="76200" marT="19050" marB="19050" anchor="ctr">
                    <a:solidFill>
                      <a:srgbClr val="1E4FA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作用</a:t>
                      </a:r>
                    </a:p>
                  </a:txBody>
                  <a:tcPr marL="76200" marR="76200" marT="19050" marB="19050" anchor="ctr">
                    <a:solidFill>
                      <a:srgbClr val="1E4FA8"/>
                    </a:solidFill>
                  </a:tcPr>
                </a:tc>
              </a:tr>
              <a:tr h="438150"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P1 / 2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Conv 3×3, s=2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320 × 320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第一次降采样，保边缘细节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P2 / 4</a:t>
                      </a:r>
                    </a:p>
                  </a:txBody>
                  <a:tcPr marL="76200" marR="76200" marT="19050" marB="1905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Conv 3×3, s=2</a:t>
                      </a:r>
                    </a:p>
                  </a:txBody>
                  <a:tcPr marL="76200" marR="76200" marT="19050" marB="1905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160 × 160</a:t>
                      </a:r>
                    </a:p>
                  </a:txBody>
                  <a:tcPr marL="76200" marR="76200" marT="19050" marB="1905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降采样 + 扩通道</a:t>
                      </a:r>
                    </a:p>
                  </a:txBody>
                  <a:tcPr marL="76200" marR="76200" marT="19050" marB="19050" anchor="ctr">
                    <a:solidFill>
                      <a:srgbClr val="F7F9FC"/>
                    </a:solidFill>
                  </a:tcPr>
                </a:tc>
              </a:tr>
              <a:tr h="438150"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P3 / 8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C2f（v8）/ C3k2（v11）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80 × 80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开始输出到检测头（小目标）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P4 / 16</a:t>
                      </a:r>
                    </a:p>
                  </a:txBody>
                  <a:tcPr marL="76200" marR="76200" marT="19050" marB="1905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C2f（v8）/ C3k2（v11）</a:t>
                      </a:r>
                    </a:p>
                  </a:txBody>
                  <a:tcPr marL="76200" marR="76200" marT="19050" marB="1905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40 × 40</a:t>
                      </a:r>
                    </a:p>
                  </a:txBody>
                  <a:tcPr marL="76200" marR="76200" marT="19050" marB="1905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中层语义（中目标）</a:t>
                      </a:r>
                    </a:p>
                  </a:txBody>
                  <a:tcPr marL="76200" marR="76200" marT="19050" marB="19050" anchor="ctr">
                    <a:solidFill>
                      <a:srgbClr val="F7F9FC"/>
                    </a:solidFill>
                  </a:tcPr>
                </a:tc>
              </a:tr>
              <a:tr h="438150"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P5 / 32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SPPF（+ C2PSA 仅 v11）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20 × 20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深层语义 + 多尺度感受野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81000" y="4286250"/>
            <a:ext cx="66675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8B97A8"/>
                </a:solidFill>
                <a:latin typeface="Microsoft YaHei"/>
                <a:ea typeface="Microsoft YaHei"/>
              </a:rPr>
              <a:t>尺寸按 640 输入计算；通道数经 n 规模宽度系数缩放（16 → 256）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1000" y="4552950"/>
            <a:ext cx="6667500" cy="514350"/>
          </a:xfrm>
          <a:prstGeom prst="roundRect">
            <a:avLst>
              <a:gd name="adj" fmla="val 12000"/>
            </a:avLst>
          </a:prstGeom>
          <a:solidFill>
            <a:srgbClr val="F0F5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1500" y="4600575"/>
            <a:ext cx="62865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E3F8C"/>
                </a:solidFill>
                <a:latin typeface="Microsoft YaHei"/>
                <a:ea typeface="Microsoft YaHei"/>
              </a:rPr>
              <a:t>Conv（卷积）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4810125"/>
            <a:ext cx="6286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A5568"/>
                </a:solidFill>
                <a:latin typeface="Microsoft YaHei"/>
                <a:ea typeface="Microsoft YaHei"/>
              </a:rPr>
              <a:t>Conv2d + BN + SiLU；s=2 时分辨率减半、通道翻倍，是网络“压缩—抽象”的基本步。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1000" y="5114925"/>
            <a:ext cx="6667500" cy="514350"/>
          </a:xfrm>
          <a:prstGeom prst="roundRect">
            <a:avLst>
              <a:gd name="adj" fmla="val 12000"/>
            </a:avLst>
          </a:prstGeom>
          <a:solidFill>
            <a:srgbClr val="F0F5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1500" y="5162550"/>
            <a:ext cx="62865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E3F8C"/>
                </a:solidFill>
                <a:latin typeface="Microsoft YaHei"/>
                <a:ea typeface="Microsoft YaHei"/>
              </a:rPr>
              <a:t>C2f / C3k2（特征块）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5372100"/>
            <a:ext cx="6286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A5568"/>
                </a:solidFill>
                <a:latin typeface="Microsoft YaHei"/>
                <a:ea typeface="Microsoft YaHei"/>
              </a:rPr>
              <a:t>多分支梯度流结构，兼顾精度与速度；YOLO11 用 C3k2 替代 C2f，更轻量。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1000" y="5676900"/>
            <a:ext cx="6667500" cy="514350"/>
          </a:xfrm>
          <a:prstGeom prst="roundRect">
            <a:avLst>
              <a:gd name="adj" fmla="val 12000"/>
            </a:avLst>
          </a:prstGeom>
          <a:solidFill>
            <a:srgbClr val="F0F5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1500" y="5724525"/>
            <a:ext cx="62865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E3F8C"/>
                </a:solidFill>
                <a:latin typeface="Microsoft YaHei"/>
                <a:ea typeface="Microsoft YaHei"/>
              </a:rPr>
              <a:t>SPPF / C2PSA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" y="5934075"/>
            <a:ext cx="6286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A5568"/>
                </a:solidFill>
                <a:latin typeface="Microsoft YaHei"/>
                <a:ea typeface="Microsoft YaHei"/>
              </a:rPr>
              <a:t>SPPF 串联最大池化拓宽感受野；C2PSA 是 YOLO11 新增的空间注意力模块。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91400" y="1485900"/>
            <a:ext cx="4419600" cy="1600200"/>
          </a:xfrm>
          <a:prstGeom prst="roundRect">
            <a:avLst>
              <a:gd name="adj" fmla="val 8000"/>
            </a:avLst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0000" y="1638300"/>
            <a:ext cx="39624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FFFFFF"/>
                </a:solidFill>
                <a:latin typeface="Microsoft YaHei"/>
                <a:ea typeface="Microsoft YaHei"/>
              </a:rPr>
              <a:t>为什么逐级下采样？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0000" y="2000250"/>
            <a:ext cx="3962400" cy="952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 i="0">
                <a:solidFill>
                  <a:srgbClr val="FFFFFF"/>
                </a:solidFill>
                <a:latin typeface="Microsoft YaHei"/>
                <a:ea typeface="Microsoft YaHei"/>
              </a:rPr>
              <a:t>· 分辨率减半 → 计算可控，感受野更大</a:t>
            </a:r>
          </a:p>
          <a:p>
            <a:pPr algn="l">
              <a:lnSpc>
                <a:spcPct val="150000"/>
              </a:lnSpc>
            </a:pPr>
            <a:r>
              <a:rPr sz="1350" b="0" i="0">
                <a:solidFill>
                  <a:srgbClr val="FFFFFF"/>
                </a:solidFill>
                <a:latin typeface="Microsoft YaHei"/>
                <a:ea typeface="Microsoft YaHei"/>
              </a:rPr>
              <a:t>· 通道加倍 → 语义表达更丰富</a:t>
            </a:r>
          </a:p>
          <a:p>
            <a:pPr algn="l">
              <a:lnSpc>
                <a:spcPct val="150000"/>
              </a:lnSpc>
            </a:pPr>
            <a:r>
              <a:rPr sz="1350" b="0" i="0">
                <a:solidFill>
                  <a:srgbClr val="FFFFFF"/>
                </a:solidFill>
                <a:latin typeface="Microsoft YaHei"/>
                <a:ea typeface="Microsoft YaHei"/>
              </a:rPr>
              <a:t>· 浅层记边缘纹理，深层记结构语义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91400" y="3238500"/>
            <a:ext cx="4419600" cy="1390650"/>
          </a:xfrm>
          <a:prstGeom prst="roundRect">
            <a:avLst>
              <a:gd name="adj" fmla="val 8000"/>
            </a:avLst>
          </a:prstGeom>
          <a:solidFill>
            <a:srgbClr val="F0F5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20000" y="3371850"/>
            <a:ext cx="39624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E3F8C"/>
                </a:solidFill>
                <a:latin typeface="Microsoft YaHei"/>
                <a:ea typeface="Microsoft YaHei"/>
              </a:rPr>
              <a:t>感受野与本任务的关系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0000" y="3695700"/>
            <a:ext cx="3962400" cy="857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4A5568"/>
                </a:solidFill>
                <a:latin typeface="Microsoft YaHei"/>
                <a:ea typeface="Microsoft YaHei"/>
              </a:rPr>
              <a:t>胎头在图中占比较大（多在 1/3 以上），P4 / P5 尺度即可覆盖；但小孕周胎头偏小，P3 尺度不可或缺——三尺度都要保留。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91400" y="4781550"/>
            <a:ext cx="4419600" cy="1238250"/>
          </a:xfrm>
          <a:prstGeom prst="roundRect">
            <a:avLst>
              <a:gd name="adj" fmla="val 8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20000" y="4895850"/>
            <a:ext cx="39624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E3F8C"/>
                </a:solidFill>
                <a:latin typeface="Microsoft YaHei"/>
                <a:ea typeface="Microsoft YaHei"/>
              </a:rPr>
              <a:t>课堂提问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20000" y="5219700"/>
            <a:ext cx="3962400" cy="723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4A5568"/>
                </a:solidFill>
                <a:latin typeface="Microsoft YaHei"/>
                <a:ea typeface="Microsoft YaHei"/>
              </a:rPr>
              <a:t>如果把 SPPF 去掉会怎样？——大小胎头尺寸差异大，单一感受野容易“看不全”或“看太散”，mAP 对尺度会更敏感。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0"/>
            <a:ext cx="57150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FFFFFF"/>
                </a:solidFill>
                <a:latin typeface="Microsoft YaHei"/>
                <a:ea typeface="Microsoft YaHei"/>
              </a:rPr>
              <a:t>超声胎儿头围检测 · 教学课件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0" y="0"/>
            <a:ext cx="57150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0" i="0">
                <a:solidFill>
                  <a:srgbClr val="FFFFFF"/>
                </a:solidFill>
                <a:latin typeface="Microsoft YaHei"/>
                <a:ea typeface="Microsoft YaHei"/>
              </a:rPr>
              <a:t>第 2 章 · 方法与技术路线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914400"/>
            <a:ext cx="762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" b="0" i="0">
                <a:solidFill>
                  <a:srgbClr val="1A2230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1000" y="952500"/>
            <a:ext cx="76200" cy="304800"/>
          </a:xfrm>
          <a:prstGeom prst="roundRect">
            <a:avLst>
              <a:gd name="adj" fmla="val 3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06000" y="6362700"/>
            <a:ext cx="1905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 i="0">
                <a:solidFill>
                  <a:srgbClr val="1E4FA8"/>
                </a:solidFill>
                <a:latin typeface="Microsoft YaHei"/>
                <a:ea typeface="Microsoft YaHei"/>
              </a:rPr>
              <a:t>11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" y="6362700"/>
            <a:ext cx="5715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8B97A8"/>
                </a:solidFill>
                <a:latin typeface="Microsoft YaHei"/>
                <a:ea typeface="Microsoft YaHei"/>
              </a:rPr>
              <a:t>HC18 胎儿头围检测项目 · 肖雄涛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1000" y="952500"/>
            <a:ext cx="76200" cy="304800"/>
          </a:xfrm>
          <a:prstGeom prst="roundRect">
            <a:avLst>
              <a:gd name="adj" fmla="val 3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0550" y="876300"/>
            <a:ext cx="104775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E3F8C"/>
                </a:solidFill>
                <a:latin typeface="Microsoft YaHei"/>
                <a:ea typeface="Microsoft YaHei"/>
              </a:rPr>
              <a:t>Neck：FPN + PAN 双向特征融合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1485900"/>
            <a:ext cx="11430000" cy="11049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33400" y="1657350"/>
            <a:ext cx="1257300" cy="762000"/>
          </a:xfrm>
          <a:prstGeom prst="roundRect">
            <a:avLst>
              <a:gd name="adj" fmla="val 12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3400" y="1657350"/>
            <a:ext cx="1257300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</a:rPr>
              <a:t>FPN
自顶向下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00250" y="1809750"/>
            <a:ext cx="1080407" cy="457200"/>
          </a:xfrm>
          <a:prstGeom prst="roundRect">
            <a:avLst>
              <a:gd name="adj" fmla="val 18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00250" y="1809750"/>
            <a:ext cx="108040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0E3F8C"/>
                </a:solidFill>
                <a:latin typeface="Microsoft YaHei"/>
                <a:ea typeface="Microsoft YaHei"/>
              </a:rPr>
              <a:t>P5 深层语义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118757" y="1943100"/>
            <a:ext cx="190500" cy="1905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328307" y="1809750"/>
            <a:ext cx="1080407" cy="457200"/>
          </a:xfrm>
          <a:prstGeom prst="roundRect">
            <a:avLst>
              <a:gd name="adj" fmla="val 18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28307" y="1809750"/>
            <a:ext cx="108040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0E3F8C"/>
                </a:solidFill>
                <a:latin typeface="Microsoft YaHei"/>
                <a:ea typeface="Microsoft YaHei"/>
              </a:rPr>
              <a:t>上采样 ×2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446814" y="1943100"/>
            <a:ext cx="190500" cy="1905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656364" y="1809750"/>
            <a:ext cx="1080407" cy="457200"/>
          </a:xfrm>
          <a:prstGeom prst="roundRect">
            <a:avLst>
              <a:gd name="adj" fmla="val 18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56364" y="1809750"/>
            <a:ext cx="108040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0E3F8C"/>
                </a:solidFill>
                <a:latin typeface="Microsoft YaHei"/>
                <a:ea typeface="Microsoft YaHei"/>
              </a:rPr>
              <a:t>与 P4 拼接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774871" y="1943100"/>
            <a:ext cx="190500" cy="1905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984421" y="1809750"/>
            <a:ext cx="1080407" cy="457200"/>
          </a:xfrm>
          <a:prstGeom prst="roundRect">
            <a:avLst>
              <a:gd name="adj" fmla="val 18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84421" y="1809750"/>
            <a:ext cx="108040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0E3F8C"/>
                </a:solidFill>
                <a:latin typeface="Microsoft YaHei"/>
                <a:ea typeface="Microsoft YaHei"/>
              </a:rPr>
              <a:t>融合块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102928" y="1943100"/>
            <a:ext cx="190500" cy="1905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12478" y="1809750"/>
            <a:ext cx="1080407" cy="457200"/>
          </a:xfrm>
          <a:prstGeom prst="roundRect">
            <a:avLst>
              <a:gd name="adj" fmla="val 18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2478" y="1809750"/>
            <a:ext cx="108040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0E3F8C"/>
                </a:solidFill>
                <a:latin typeface="Microsoft YaHei"/>
                <a:ea typeface="Microsoft YaHei"/>
              </a:rPr>
              <a:t>上采样 ×2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8430985" y="1943100"/>
            <a:ext cx="190500" cy="1905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640535" y="1809750"/>
            <a:ext cx="1080407" cy="457200"/>
          </a:xfrm>
          <a:prstGeom prst="roundRect">
            <a:avLst>
              <a:gd name="adj" fmla="val 18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40535" y="1809750"/>
            <a:ext cx="108040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0E3F8C"/>
                </a:solidFill>
                <a:latin typeface="Microsoft YaHei"/>
                <a:ea typeface="Microsoft YaHei"/>
              </a:rPr>
              <a:t>与 P3 拼接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9759042" y="1943100"/>
            <a:ext cx="190500" cy="1905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968592" y="1809750"/>
            <a:ext cx="1080407" cy="457200"/>
          </a:xfrm>
          <a:prstGeom prst="roundRect">
            <a:avLst>
              <a:gd name="adj" fmla="val 18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68592" y="1809750"/>
            <a:ext cx="108040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0E3F8C"/>
                </a:solidFill>
                <a:latin typeface="Microsoft YaHei"/>
                <a:ea typeface="Microsoft YaHei"/>
              </a:rPr>
              <a:t>融合块 → P3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1000" y="2819400"/>
            <a:ext cx="11430000" cy="11049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33400" y="2990850"/>
            <a:ext cx="1257300" cy="762000"/>
          </a:xfrm>
          <a:prstGeom prst="roundRect">
            <a:avLst>
              <a:gd name="adj" fmla="val 12000"/>
            </a:avLst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3400" y="2990850"/>
            <a:ext cx="1257300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</a:rPr>
              <a:t>PAN
自底向上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000250" y="3143250"/>
            <a:ext cx="1080407" cy="457200"/>
          </a:xfrm>
          <a:prstGeom prst="roundRect">
            <a:avLst>
              <a:gd name="adj" fmla="val 18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000250" y="3143250"/>
            <a:ext cx="108040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0E3F8C"/>
                </a:solidFill>
                <a:latin typeface="Microsoft YaHei"/>
                <a:ea typeface="Microsoft YaHei"/>
              </a:rPr>
              <a:t>P3 细节特征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3118757" y="3276600"/>
            <a:ext cx="190500" cy="1905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328307" y="3143250"/>
            <a:ext cx="1080407" cy="457200"/>
          </a:xfrm>
          <a:prstGeom prst="roundRect">
            <a:avLst>
              <a:gd name="adj" fmla="val 18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28307" y="3143250"/>
            <a:ext cx="108040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0E3F8C"/>
                </a:solidFill>
                <a:latin typeface="Microsoft YaHei"/>
                <a:ea typeface="Microsoft YaHei"/>
              </a:rPr>
              <a:t>下采样 ×2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4446814" y="3276600"/>
            <a:ext cx="190500" cy="1905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656364" y="3143250"/>
            <a:ext cx="1080407" cy="457200"/>
          </a:xfrm>
          <a:prstGeom prst="roundRect">
            <a:avLst>
              <a:gd name="adj" fmla="val 18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56364" y="3143250"/>
            <a:ext cx="108040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0E3F8C"/>
                </a:solidFill>
                <a:latin typeface="Microsoft YaHei"/>
                <a:ea typeface="Microsoft YaHei"/>
              </a:rPr>
              <a:t>与 P4 拼接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5774871" y="3276600"/>
            <a:ext cx="190500" cy="1905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984421" y="3143250"/>
            <a:ext cx="1080407" cy="457200"/>
          </a:xfrm>
          <a:prstGeom prst="roundRect">
            <a:avLst>
              <a:gd name="adj" fmla="val 18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84421" y="3143250"/>
            <a:ext cx="108040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0E3F8C"/>
                </a:solidFill>
                <a:latin typeface="Microsoft YaHei"/>
                <a:ea typeface="Microsoft YaHei"/>
              </a:rPr>
              <a:t>融合块</a:t>
            </a:r>
          </a:p>
        </p:txBody>
      </p:sp>
      <p:sp>
        <p:nvSpPr>
          <p:cNvPr id="48" name="Right Arrow 47"/>
          <p:cNvSpPr/>
          <p:nvPr/>
        </p:nvSpPr>
        <p:spPr>
          <a:xfrm>
            <a:off x="7102928" y="3276600"/>
            <a:ext cx="190500" cy="1905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7312478" y="3143250"/>
            <a:ext cx="1080407" cy="457200"/>
          </a:xfrm>
          <a:prstGeom prst="roundRect">
            <a:avLst>
              <a:gd name="adj" fmla="val 18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2478" y="3143250"/>
            <a:ext cx="108040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0E3F8C"/>
                </a:solidFill>
                <a:latin typeface="Microsoft YaHei"/>
                <a:ea typeface="Microsoft YaHei"/>
              </a:rPr>
              <a:t>下采样 ×2</a:t>
            </a:r>
          </a:p>
        </p:txBody>
      </p:sp>
      <p:sp>
        <p:nvSpPr>
          <p:cNvPr id="51" name="Right Arrow 50"/>
          <p:cNvSpPr/>
          <p:nvPr/>
        </p:nvSpPr>
        <p:spPr>
          <a:xfrm>
            <a:off x="8430985" y="3276600"/>
            <a:ext cx="190500" cy="1905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8640535" y="3143250"/>
            <a:ext cx="1080407" cy="457200"/>
          </a:xfrm>
          <a:prstGeom prst="roundRect">
            <a:avLst>
              <a:gd name="adj" fmla="val 18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40535" y="3143250"/>
            <a:ext cx="108040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0E3F8C"/>
                </a:solidFill>
                <a:latin typeface="Microsoft YaHei"/>
                <a:ea typeface="Microsoft YaHei"/>
              </a:rPr>
              <a:t>与 P5 拼接</a:t>
            </a:r>
          </a:p>
        </p:txBody>
      </p:sp>
      <p:sp>
        <p:nvSpPr>
          <p:cNvPr id="54" name="Right Arrow 53"/>
          <p:cNvSpPr/>
          <p:nvPr/>
        </p:nvSpPr>
        <p:spPr>
          <a:xfrm>
            <a:off x="9759042" y="3276600"/>
            <a:ext cx="190500" cy="1905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9968592" y="3143250"/>
            <a:ext cx="1080407" cy="457200"/>
          </a:xfrm>
          <a:prstGeom prst="roundRect">
            <a:avLst>
              <a:gd name="adj" fmla="val 18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968592" y="3143250"/>
            <a:ext cx="108040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0E3F8C"/>
                </a:solidFill>
                <a:latin typeface="Microsoft YaHei"/>
                <a:ea typeface="Microsoft YaHei"/>
              </a:rPr>
              <a:t>融合块 → P5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81000" y="4191000"/>
            <a:ext cx="3676650" cy="1409700"/>
          </a:xfrm>
          <a:prstGeom prst="roundRect">
            <a:avLst>
              <a:gd name="adj" fmla="val 6000"/>
            </a:avLst>
          </a:prstGeom>
          <a:solidFill>
            <a:srgbClr val="F0F5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71500" y="4324350"/>
            <a:ext cx="329565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E3F8C"/>
                </a:solidFill>
                <a:latin typeface="Microsoft YaHei"/>
                <a:ea typeface="Microsoft YaHei"/>
              </a:rPr>
              <a:t>为什么要双向融合？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71500" y="4686300"/>
            <a:ext cx="3295650" cy="800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A5568"/>
                </a:solidFill>
                <a:latin typeface="Microsoft YaHei"/>
                <a:ea typeface="Microsoft YaHei"/>
              </a:rPr>
              <a:t>深层特征“知道是什么”但位置粗；浅层特征“知道在哪”但语义弱。FPN 把语义送下去，PAN 把定位细节送上来，两头都强。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257675" y="4191000"/>
            <a:ext cx="3676650" cy="1409700"/>
          </a:xfrm>
          <a:prstGeom prst="roundRect">
            <a:avLst>
              <a:gd name="adj" fmla="val 6000"/>
            </a:avLst>
          </a:prstGeom>
          <a:solidFill>
            <a:srgbClr val="F0F5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448175" y="4324350"/>
            <a:ext cx="329565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E3F8C"/>
                </a:solidFill>
                <a:latin typeface="Microsoft YaHei"/>
                <a:ea typeface="Microsoft YaHei"/>
              </a:rPr>
              <a:t>三个尺度的分工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448175" y="4686300"/>
            <a:ext cx="3295650" cy="800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A5568"/>
                </a:solidFill>
                <a:latin typeface="Microsoft YaHei"/>
                <a:ea typeface="Microsoft YaHei"/>
              </a:rPr>
              <a:t>P3（80²）看小目标 · P4（40²）看中目标 · P5（20²）看大目标。三个检测头并行，谁的尺度合适谁来负责。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134350" y="4191000"/>
            <a:ext cx="3676650" cy="1409700"/>
          </a:xfrm>
          <a:prstGeom prst="roundRect">
            <a:avLst>
              <a:gd name="adj" fmla="val 6000"/>
            </a:avLst>
          </a:prstGeom>
          <a:solidFill>
            <a:srgbClr val="F0F5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324850" y="4324350"/>
            <a:ext cx="329565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E3F8C"/>
                </a:solidFill>
                <a:latin typeface="Microsoft YaHei"/>
                <a:ea typeface="Microsoft YaHei"/>
              </a:rPr>
              <a:t>对本项目的意义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24850" y="4686300"/>
            <a:ext cx="3295650" cy="800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A5568"/>
                </a:solidFill>
                <a:latin typeface="Microsoft YaHei"/>
                <a:ea typeface="Microsoft YaHei"/>
              </a:rPr>
              <a:t>胎头大小随孕周变化极大（HC 44–346 mm），多尺度融合正是模型能同时框住小孕周与足月胎头的关键。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81000" y="5791200"/>
            <a:ext cx="11430000" cy="438150"/>
          </a:xfrm>
          <a:prstGeom prst="roundRect">
            <a:avLst>
              <a:gd name="adj" fmla="val 12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09600" y="5791200"/>
            <a:ext cx="10972800" cy="438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0E3F8C"/>
                </a:solidFill>
                <a:latin typeface="Microsoft YaHei"/>
                <a:ea typeface="Microsoft YaHei"/>
              </a:rPr>
              <a:t>一句话：</a:t>
            </a:r>
            <a:r>
              <a:rPr sz="1700" b="0" i="0">
                <a:solidFill>
                  <a:srgbClr val="0E3F8C"/>
                </a:solidFill>
                <a:latin typeface="Microsoft YaHei"/>
                <a:ea typeface="Microsoft YaHei"/>
              </a:rPr>
              <a:t>Neck 是“翻译官”——把主干里的信息重新组织成三个尺度、语义与定位兼备的特征图，交给检测头。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0"/>
            <a:ext cx="57150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FFFFFF"/>
                </a:solidFill>
                <a:latin typeface="Microsoft YaHei"/>
                <a:ea typeface="Microsoft YaHei"/>
              </a:rPr>
              <a:t>超声胎儿头围检测 · 教学课件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0" y="0"/>
            <a:ext cx="57150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0" i="0">
                <a:solidFill>
                  <a:srgbClr val="FFFFFF"/>
                </a:solidFill>
                <a:latin typeface="Microsoft YaHei"/>
                <a:ea typeface="Microsoft YaHei"/>
              </a:rPr>
              <a:t>第 2 章 · 方法与技术路线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914400"/>
            <a:ext cx="762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" b="0" i="0">
                <a:solidFill>
                  <a:srgbClr val="1A2230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1000" y="952500"/>
            <a:ext cx="76200" cy="304800"/>
          </a:xfrm>
          <a:prstGeom prst="roundRect">
            <a:avLst>
              <a:gd name="adj" fmla="val 3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06000" y="6362700"/>
            <a:ext cx="1905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 i="0">
                <a:solidFill>
                  <a:srgbClr val="1E4FA8"/>
                </a:solidFill>
                <a:latin typeface="Microsoft YaHei"/>
                <a:ea typeface="Microsoft YaHei"/>
              </a:rPr>
              <a:t>12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" y="6362700"/>
            <a:ext cx="5715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8B97A8"/>
                </a:solidFill>
                <a:latin typeface="Microsoft YaHei"/>
                <a:ea typeface="Microsoft YaHei"/>
              </a:rPr>
              <a:t>HC18 胎儿头围检测项目 · 肖雄涛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1000" y="952500"/>
            <a:ext cx="76200" cy="304800"/>
          </a:xfrm>
          <a:prstGeom prst="roundRect">
            <a:avLst>
              <a:gd name="adj" fmla="val 3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0550" y="876300"/>
            <a:ext cx="1000125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E3F8C"/>
                </a:solidFill>
                <a:latin typeface="Microsoft YaHei"/>
                <a:ea typeface="Microsoft YaHei"/>
              </a:rPr>
              <a:t>Head：Anchor-Free 解耦头怎么出框</a:t>
            </a:r>
          </a:p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8B97A8"/>
                </a:solidFill>
                <a:latin typeface="Microsoft YaHei"/>
                <a:ea typeface="Microsoft YaHei"/>
              </a:rPr>
              <a:t>  以 P3 尺度为例</a:t>
            </a:r>
          </a:p>
        </p:txBody>
      </p:sp>
      <p:pic>
        <p:nvPicPr>
          <p:cNvPr id="11" name="Picture 10" descr="head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428750"/>
            <a:ext cx="11430000" cy="477202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381000" y="1428750"/>
            <a:ext cx="11430000" cy="4772025"/>
          </a:xfrm>
          <a:prstGeom prst="rect">
            <a:avLst/>
          </a:prstGeom>
          <a:noFill/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1000" y="6267450"/>
            <a:ext cx="11430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8B97A8"/>
                </a:solidFill>
                <a:latin typeface="Microsoft YaHei"/>
                <a:ea typeface="Microsoft YaHei"/>
              </a:rPr>
              <a:t>分类与回归各走一条分支；Anchor-Free 直接回归到四边的距离，经 DFL 求期望得到坐标（nc=1，每锚点 65 个数值）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0"/>
            <a:ext cx="57150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FFFFFF"/>
                </a:solidFill>
                <a:latin typeface="Microsoft YaHei"/>
                <a:ea typeface="Microsoft YaHei"/>
              </a:rPr>
              <a:t>超声胎儿头围检测 · 教学课件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0" y="0"/>
            <a:ext cx="57150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0" i="0">
                <a:solidFill>
                  <a:srgbClr val="FFFFFF"/>
                </a:solidFill>
                <a:latin typeface="Microsoft YaHei"/>
                <a:ea typeface="Microsoft YaHei"/>
              </a:rPr>
              <a:t>第 2 章 · 方法与技术路线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914400"/>
            <a:ext cx="762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" b="0" i="0">
                <a:solidFill>
                  <a:srgbClr val="1A2230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1000" y="952500"/>
            <a:ext cx="76200" cy="304800"/>
          </a:xfrm>
          <a:prstGeom prst="roundRect">
            <a:avLst>
              <a:gd name="adj" fmla="val 3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06000" y="6362700"/>
            <a:ext cx="1905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 i="0">
                <a:solidFill>
                  <a:srgbClr val="1E4FA8"/>
                </a:solidFill>
                <a:latin typeface="Microsoft YaHei"/>
                <a:ea typeface="Microsoft YaHei"/>
              </a:rPr>
              <a:t>13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" y="6362700"/>
            <a:ext cx="5715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8B97A8"/>
                </a:solidFill>
                <a:latin typeface="Microsoft YaHei"/>
                <a:ea typeface="Microsoft YaHei"/>
              </a:rPr>
              <a:t>HC18 胎儿头围检测项目 · 肖雄涛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1000" y="952500"/>
            <a:ext cx="76200" cy="304800"/>
          </a:xfrm>
          <a:prstGeom prst="roundRect">
            <a:avLst>
              <a:gd name="adj" fmla="val 3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0550" y="876300"/>
            <a:ext cx="1000125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E3F8C"/>
                </a:solidFill>
                <a:latin typeface="Microsoft YaHei"/>
                <a:ea typeface="Microsoft YaHei"/>
              </a:rPr>
              <a:t>损失函数：模型靠什么学会“框得准”</a:t>
            </a:r>
          </a:p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8B97A8"/>
                </a:solidFill>
                <a:latin typeface="Microsoft YaHei"/>
                <a:ea typeface="Microsoft YaHei"/>
              </a:rPr>
              <a:t>  权重取自本项目 args.yaml</a:t>
            </a:r>
          </a:p>
        </p:txBody>
      </p:sp>
      <p:pic>
        <p:nvPicPr>
          <p:cNvPr id="11" name="Picture 10" descr="loss_fu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28750"/>
            <a:ext cx="10820400" cy="47625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85800" y="1428750"/>
            <a:ext cx="10820400" cy="4762500"/>
          </a:xfrm>
          <a:prstGeom prst="rect">
            <a:avLst/>
          </a:prstGeom>
          <a:noFill/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1000" y="6248400"/>
            <a:ext cx="11430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 i="0">
                <a:solidFill>
                  <a:srgbClr val="8B97A8"/>
                </a:solidFill>
                <a:latin typeface="Microsoft YaHei"/>
                <a:ea typeface="Microsoft YaHei"/>
              </a:rPr>
              <a:t>训练日志中 box_loss / dfl_loss / cls_loss 三条曲线即对应这三项（见第 18 页训练曲线）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0"/>
            <a:ext cx="57150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FFFFFF"/>
                </a:solidFill>
                <a:latin typeface="Microsoft YaHei"/>
                <a:ea typeface="Microsoft YaHei"/>
              </a:rPr>
              <a:t>超声胎儿头围检测 · 教学课件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0" y="0"/>
            <a:ext cx="57150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0" i="0">
                <a:solidFill>
                  <a:srgbClr val="FFFFFF"/>
                </a:solidFill>
                <a:latin typeface="Microsoft YaHei"/>
                <a:ea typeface="Microsoft YaHei"/>
              </a:rPr>
              <a:t>第 2 章 · 方法与技术路线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914400"/>
            <a:ext cx="762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" b="0" i="0">
                <a:solidFill>
                  <a:srgbClr val="1A2230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1000" y="952500"/>
            <a:ext cx="76200" cy="304800"/>
          </a:xfrm>
          <a:prstGeom prst="roundRect">
            <a:avLst>
              <a:gd name="adj" fmla="val 3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06000" y="6362700"/>
            <a:ext cx="1905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 i="0">
                <a:solidFill>
                  <a:srgbClr val="1E4FA8"/>
                </a:solidFill>
                <a:latin typeface="Microsoft YaHei"/>
                <a:ea typeface="Microsoft YaHei"/>
              </a:rPr>
              <a:t>14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" y="6362700"/>
            <a:ext cx="5715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8B97A8"/>
                </a:solidFill>
                <a:latin typeface="Microsoft YaHei"/>
                <a:ea typeface="Microsoft YaHei"/>
              </a:rPr>
              <a:t>HC18 胎儿头围检测项目 · 肖雄涛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1000" y="952500"/>
            <a:ext cx="76200" cy="304800"/>
          </a:xfrm>
          <a:prstGeom prst="roundRect">
            <a:avLst>
              <a:gd name="adj" fmla="val 3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0550" y="876300"/>
            <a:ext cx="1000125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E3F8C"/>
                </a:solidFill>
                <a:latin typeface="Microsoft YaHei"/>
                <a:ea typeface="Microsoft YaHei"/>
              </a:rPr>
              <a:t>正样本分配与推理后处理</a:t>
            </a:r>
          </a:p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8B97A8"/>
                </a:solidFill>
                <a:latin typeface="Microsoft YaHei"/>
                <a:ea typeface="Microsoft YaHei"/>
              </a:rPr>
              <a:t>  TAL Assigner · NMS</a:t>
            </a:r>
          </a:p>
        </p:txBody>
      </p:sp>
      <p:pic>
        <p:nvPicPr>
          <p:cNvPr id="11" name="Picture 10" descr="assign_n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1428750"/>
            <a:ext cx="10868025" cy="43815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66750" y="1428750"/>
            <a:ext cx="10868025" cy="4381500"/>
          </a:xfrm>
          <a:prstGeom prst="rect">
            <a:avLst/>
          </a:prstGeom>
          <a:noFill/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81000" y="5886450"/>
            <a:ext cx="11430000" cy="457200"/>
          </a:xfrm>
          <a:prstGeom prst="roundRect">
            <a:avLst>
              <a:gd name="adj" fmla="val 12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600" y="5886450"/>
            <a:ext cx="10972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Microsoft YaHei"/>
                <a:ea typeface="Microsoft YaHei"/>
              </a:rPr>
              <a:t>教学要点：</a:t>
            </a:r>
            <a:r>
              <a:rPr sz="1500" b="0" i="0">
                <a:solidFill>
                  <a:srgbClr val="0E3F8C"/>
                </a:solidFill>
                <a:latin typeface="Microsoft YaHei"/>
                <a:ea typeface="Microsoft YaHei"/>
              </a:rPr>
              <a:t>训练看 TAL（谁算回归损失），推理看 NMS（谁留下来）——conf 0.25 · IoU 0.7 · max_det 300 均取自本项目 args.yaml。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0"/>
            <a:ext cx="57150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FFFFFF"/>
                </a:solidFill>
                <a:latin typeface="Microsoft YaHei"/>
                <a:ea typeface="Microsoft YaHei"/>
              </a:rPr>
              <a:t>超声胎儿头围检测 · 教学课件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0" y="0"/>
            <a:ext cx="57150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0" i="0">
                <a:solidFill>
                  <a:srgbClr val="FFFFFF"/>
                </a:solidFill>
                <a:latin typeface="Microsoft YaHei"/>
                <a:ea typeface="Microsoft YaHei"/>
              </a:rPr>
              <a:t>第 2 章 · 方法与技术路线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914400"/>
            <a:ext cx="762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" b="0" i="0">
                <a:solidFill>
                  <a:srgbClr val="1A2230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1000" y="952500"/>
            <a:ext cx="76200" cy="304800"/>
          </a:xfrm>
          <a:prstGeom prst="roundRect">
            <a:avLst>
              <a:gd name="adj" fmla="val 3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06000" y="6362700"/>
            <a:ext cx="1905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 i="0">
                <a:solidFill>
                  <a:srgbClr val="1E4FA8"/>
                </a:solidFill>
                <a:latin typeface="Microsoft YaHei"/>
                <a:ea typeface="Microsoft YaHei"/>
              </a:rPr>
              <a:t>15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" y="6362700"/>
            <a:ext cx="5715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8B97A8"/>
                </a:solidFill>
                <a:latin typeface="Microsoft YaHei"/>
                <a:ea typeface="Microsoft YaHei"/>
              </a:rPr>
              <a:t>HC18 胎儿头围检测项目 · 肖雄涛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1000" y="952500"/>
            <a:ext cx="76200" cy="304800"/>
          </a:xfrm>
          <a:prstGeom prst="roundRect">
            <a:avLst>
              <a:gd name="adj" fmla="val 3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0550" y="876300"/>
            <a:ext cx="104775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E3F8C"/>
                </a:solidFill>
                <a:latin typeface="Microsoft YaHei"/>
                <a:ea typeface="Microsoft YaHei"/>
              </a:rPr>
              <a:t>训练配置：同一套超参数的公平对比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1485900"/>
            <a:ext cx="3429000" cy="4610100"/>
          </a:xfrm>
          <a:prstGeom prst="roundRect">
            <a:avLst>
              <a:gd name="adj" fmla="val 8000"/>
            </a:avLst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8650" y="1714500"/>
            <a:ext cx="29527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</a:rPr>
              <a:t>公平对比原则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8650" y="2171700"/>
            <a:ext cx="571500" cy="47625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650" y="2362200"/>
            <a:ext cx="2952750" cy="1238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FFFFFF"/>
                </a:solidFill>
                <a:latin typeface="Microsoft YaHei"/>
                <a:ea typeface="Microsoft YaHei"/>
              </a:rPr>
              <a:t>两个模型使用完全相同的数据划分与超参数，仅主干网络不同。这样性能差异才能归因于架构本身，而非训练技巧。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650" y="3810000"/>
            <a:ext cx="2952750" cy="704850"/>
          </a:xfrm>
          <a:prstGeom prst="roundRect">
            <a:avLst>
              <a:gd name="adj" fmla="val 15000"/>
            </a:avLst>
          </a:prstGeom>
          <a:solidFill>
            <a:srgbClr val="FFFFFF">
              <a:alpha val="12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050" y="3905250"/>
            <a:ext cx="26670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</a:rPr>
              <a:t>YOLOv8n：</a:t>
            </a:r>
            <a:r>
              <a:rPr sz="1400" b="0" i="0">
                <a:solidFill>
                  <a:srgbClr val="FFFFFF"/>
                </a:solidFill>
                <a:latin typeface="Microsoft YaHei"/>
                <a:ea typeface="Microsoft YaHei"/>
              </a:rPr>
              <a:t>早停于 68 轮，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FFFFFF"/>
                </a:solidFill>
                <a:latin typeface="Microsoft YaHei"/>
                <a:ea typeface="Microsoft YaHei"/>
              </a:rPr>
              <a:t>训练用时约 32.8 分钟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8650" y="4667250"/>
            <a:ext cx="2952750" cy="704850"/>
          </a:xfrm>
          <a:prstGeom prst="roundRect">
            <a:avLst>
              <a:gd name="adj" fmla="val 15000"/>
            </a:avLst>
          </a:prstGeom>
          <a:solidFill>
            <a:srgbClr val="FFFFFF">
              <a:alpha val="12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1050" y="4762500"/>
            <a:ext cx="26670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</a:rPr>
              <a:t>YOLO11n：</a:t>
            </a:r>
            <a:r>
              <a:rPr sz="1400" b="0" i="0">
                <a:solidFill>
                  <a:srgbClr val="FFFFFF"/>
                </a:solidFill>
                <a:latin typeface="Microsoft YaHei"/>
                <a:ea typeface="Microsoft YaHei"/>
              </a:rPr>
              <a:t>早停于 60 轮，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FFFFFF"/>
                </a:solidFill>
                <a:latin typeface="Microsoft YaHei"/>
                <a:ea typeface="Microsoft YaHei"/>
              </a:rPr>
              <a:t>训练用时约 30.4 分钟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038600" y="1485900"/>
          <a:ext cx="7772400" cy="39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381250"/>
                <a:gridCol w="3105150"/>
              </a:tblGrid>
              <a:tr h="495300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超参数</a:t>
                      </a:r>
                    </a:p>
                  </a:txBody>
                  <a:tcPr marL="95250" marR="95250" marT="38100" marB="38100" anchor="ctr">
                    <a:solidFill>
                      <a:srgbClr val="1E4FA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取值</a:t>
                      </a:r>
                    </a:p>
                  </a:txBody>
                  <a:tcPr marL="95250" marR="95250" marT="38100" marB="38100" anchor="ctr">
                    <a:solidFill>
                      <a:srgbClr val="1E4FA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说明</a:t>
                      </a:r>
                    </a:p>
                  </a:txBody>
                  <a:tcPr marL="95250" marR="95250" marT="38100" marB="38100" anchor="ctr">
                    <a:solidFill>
                      <a:srgbClr val="1E4FA8"/>
                    </a:solidFill>
                  </a:tcPr>
                </a:tc>
              </a:tr>
              <a:tr h="495300"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epochs / patience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100 / 20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最多 100 轮，20 轮无提升则早停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imgsz / batch</a:t>
                      </a:r>
                    </a:p>
                  </a:txBody>
                  <a:tcPr marL="95250" marR="9525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640 / 16</a:t>
                      </a:r>
                    </a:p>
                  </a:txBody>
                  <a:tcPr marL="95250" marR="9525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标准输入尺寸与批大小</a:t>
                      </a:r>
                    </a:p>
                  </a:txBody>
                  <a:tcPr marL="95250" marR="95250" marT="38100" marB="38100" anchor="ctr">
                    <a:solidFill>
                      <a:srgbClr val="F7F9FC"/>
                    </a:solidFill>
                  </a:tcPr>
                </a:tc>
              </a:tr>
              <a:tr h="495300"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lr0 / momentum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0.01 / 0.937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初始学习率与动量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weight_decay</a:t>
                      </a:r>
                    </a:p>
                  </a:txBody>
                  <a:tcPr marL="95250" marR="9525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0.0005</a:t>
                      </a:r>
                    </a:p>
                  </a:txBody>
                  <a:tcPr marL="95250" marR="9525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权重衰减正则</a:t>
                      </a:r>
                    </a:p>
                  </a:txBody>
                  <a:tcPr marL="95250" marR="95250" marT="38100" marB="38100" anchor="ctr">
                    <a:solidFill>
                      <a:srgbClr val="F7F9FC"/>
                    </a:solidFill>
                  </a:tcPr>
                </a:tc>
              </a:tr>
              <a:tr h="495300"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数据增强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Mosaic + HSV + 翻转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scale 0.5 · fliplr 0.5 · hsv 增强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seed</a:t>
                      </a:r>
                    </a:p>
                  </a:txBody>
                  <a:tcPr marL="95250" marR="9525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42</a:t>
                      </a:r>
                    </a:p>
                  </a:txBody>
                  <a:tcPr marL="95250" marR="9525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固定随机种子，结果可复现</a:t>
                      </a:r>
                    </a:p>
                  </a:txBody>
                  <a:tcPr marL="95250" marR="95250" marT="38100" marB="38100" anchor="ctr">
                    <a:solidFill>
                      <a:srgbClr val="F7F9FC"/>
                    </a:solidFill>
                  </a:tcPr>
                </a:tc>
              </a:tr>
              <a:tr h="495300"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数据划分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793 / 206（按病人 8:2）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避免同一病人跨集泄漏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4038600" y="5619750"/>
            <a:ext cx="77724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8B97A8"/>
                </a:solidFill>
                <a:latin typeface="Microsoft YaHei"/>
                <a:ea typeface="Microsoft YaHei"/>
              </a:rPr>
              <a:t>摘自 runs/detect/*/args.yaml，两个模型配置完全一致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0"/>
            <a:ext cx="57150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FFFFFF"/>
                </a:solidFill>
                <a:latin typeface="Microsoft YaHei"/>
                <a:ea typeface="Microsoft YaHei"/>
              </a:rPr>
              <a:t>超声胎儿头围检测 · 教学课件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0" y="0"/>
            <a:ext cx="57150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0" i="0">
                <a:solidFill>
                  <a:srgbClr val="FFFFFF"/>
                </a:solidFill>
                <a:latin typeface="Microsoft YaHei"/>
                <a:ea typeface="Microsoft YaHei"/>
              </a:rPr>
              <a:t>第 2 章 · 方法与技术路线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914400"/>
            <a:ext cx="762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" b="0" i="0">
                <a:solidFill>
                  <a:srgbClr val="1A2230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1000" y="952500"/>
            <a:ext cx="76200" cy="304800"/>
          </a:xfrm>
          <a:prstGeom prst="roundRect">
            <a:avLst>
              <a:gd name="adj" fmla="val 3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06000" y="6362700"/>
            <a:ext cx="1905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 i="0">
                <a:solidFill>
                  <a:srgbClr val="1E4FA8"/>
                </a:solidFill>
                <a:latin typeface="Microsoft YaHei"/>
                <a:ea typeface="Microsoft YaHei"/>
              </a:rPr>
              <a:t>16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" y="6362700"/>
            <a:ext cx="5715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8B97A8"/>
                </a:solidFill>
                <a:latin typeface="Microsoft YaHei"/>
                <a:ea typeface="Microsoft YaHei"/>
              </a:rPr>
              <a:t>HC18 胎儿头围检测项目 · 肖雄涛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1000" y="952500"/>
            <a:ext cx="76200" cy="304800"/>
          </a:xfrm>
          <a:prstGeom prst="roundRect">
            <a:avLst>
              <a:gd name="adj" fmla="val 3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0550" y="876300"/>
            <a:ext cx="104775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E3F8C"/>
                </a:solidFill>
                <a:latin typeface="Microsoft YaHei"/>
                <a:ea typeface="Microsoft YaHei"/>
              </a:rPr>
              <a:t>评价指标：从“检测得准”到“量得准”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1524000"/>
            <a:ext cx="5715000" cy="1809750"/>
          </a:xfrm>
          <a:prstGeom prst="roundRect">
            <a:avLst>
              <a:gd name="adj" fmla="val 8000"/>
            </a:avLst>
          </a:prstGeom>
          <a:solidFill>
            <a:srgbClr val="F0F5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71500" y="1695450"/>
            <a:ext cx="800100" cy="285750"/>
          </a:xfrm>
          <a:prstGeom prst="roundRect">
            <a:avLst>
              <a:gd name="adj" fmla="val 4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1500" y="1695450"/>
            <a:ext cx="80010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</a:rPr>
              <a:t>检测指标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4950" y="1657350"/>
            <a:ext cx="447675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E3F8C"/>
                </a:solidFill>
                <a:latin typeface="Microsoft YaHei"/>
                <a:ea typeface="Microsoft YaHei"/>
              </a:rPr>
              <a:t>mAP50 / mAP50-95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2095500"/>
            <a:ext cx="5334000" cy="628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4A5568"/>
                </a:solidFill>
                <a:latin typeface="Microsoft YaHei"/>
                <a:ea typeface="Microsoft YaHei"/>
              </a:rPr>
              <a:t>IoU 阈值 0.5 及 0.5–0.95 区间平均的平均精度，衡量检测框定位与质量。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2819400"/>
            <a:ext cx="5334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0E3F8C"/>
                </a:solidFill>
                <a:latin typeface="Microsoft YaHei"/>
                <a:ea typeface="Microsoft YaHei"/>
              </a:rPr>
              <a:t>本项目：mAP50 = 0.995，mAP50-95 ≈ 0.95。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6000" y="1524000"/>
            <a:ext cx="5715000" cy="1809750"/>
          </a:xfrm>
          <a:prstGeom prst="roundRect">
            <a:avLst>
              <a:gd name="adj" fmla="val 8000"/>
            </a:avLst>
          </a:prstGeom>
          <a:solidFill>
            <a:srgbClr val="F0F5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86500" y="1695450"/>
            <a:ext cx="800100" cy="285750"/>
          </a:xfrm>
          <a:prstGeom prst="roundRect">
            <a:avLst>
              <a:gd name="adj" fmla="val 40000"/>
            </a:avLst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86500" y="1695450"/>
            <a:ext cx="80010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</a:rPr>
              <a:t>测量误差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19950" y="1657350"/>
            <a:ext cx="447675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E3F8C"/>
                </a:solidFill>
                <a:latin typeface="Microsoft YaHei"/>
                <a:ea typeface="Microsoft YaHei"/>
              </a:rPr>
              <a:t>MAD（平均绝对误差）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6500" y="2095500"/>
            <a:ext cx="5334000" cy="628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4A5568"/>
                </a:solidFill>
                <a:latin typeface="Microsoft YaHei"/>
                <a:ea typeface="Microsoft YaHei"/>
              </a:rPr>
              <a:t>预测头围与官方真值的平均绝对差，单位毫米，是临床最关心的指标。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6500" y="2819400"/>
            <a:ext cx="5334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0E3F8C"/>
                </a:solidFill>
                <a:latin typeface="Microsoft YaHei"/>
                <a:ea typeface="Microsoft YaHei"/>
              </a:rPr>
              <a:t>本项目：YOLOv8 2.03 mm · YOLO11 2.39 mm。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1000" y="3486150"/>
            <a:ext cx="5715000" cy="1809750"/>
          </a:xfrm>
          <a:prstGeom prst="roundRect">
            <a:avLst>
              <a:gd name="adj" fmla="val 8000"/>
            </a:avLst>
          </a:prstGeom>
          <a:solidFill>
            <a:srgbClr val="F0F5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1500" y="3657600"/>
            <a:ext cx="800100" cy="285750"/>
          </a:xfrm>
          <a:prstGeom prst="roundRect">
            <a:avLst>
              <a:gd name="adj" fmla="val 40000"/>
            </a:avLst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1500" y="3657600"/>
            <a:ext cx="80010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</a:rPr>
              <a:t>形状重叠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4950" y="3619500"/>
            <a:ext cx="447675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E3F8C"/>
                </a:solidFill>
                <a:latin typeface="Microsoft YaHei"/>
                <a:ea typeface="Microsoft YaHei"/>
              </a:rPr>
              <a:t>DSC（Dice 相似系数）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1500" y="4057650"/>
            <a:ext cx="5334000" cy="628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4A5568"/>
                </a:solidFill>
                <a:latin typeface="Microsoft YaHei"/>
                <a:ea typeface="Microsoft YaHei"/>
              </a:rPr>
              <a:t>预测椭圆与真实椭圆区域的重叠程度，反映胎头形状还原质量。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1500" y="4781550"/>
            <a:ext cx="5334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0E3F8C"/>
                </a:solidFill>
                <a:latin typeface="Microsoft YaHei"/>
                <a:ea typeface="Microsoft YaHei"/>
              </a:rPr>
              <a:t>本项目：两模型均 ≈ 0.97。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96000" y="3486150"/>
            <a:ext cx="5715000" cy="1809750"/>
          </a:xfrm>
          <a:prstGeom prst="roundRect">
            <a:avLst>
              <a:gd name="adj" fmla="val 8000"/>
            </a:avLst>
          </a:prstGeom>
          <a:solidFill>
            <a:srgbClr val="F0F5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286500" y="3657600"/>
            <a:ext cx="800100" cy="285750"/>
          </a:xfrm>
          <a:prstGeom prst="roundRect">
            <a:avLst>
              <a:gd name="adj" fmla="val 40000"/>
            </a:avLst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86500" y="3657600"/>
            <a:ext cx="80010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</a:rPr>
              <a:t>相关性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19950" y="3619500"/>
            <a:ext cx="447675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E3F8C"/>
                </a:solidFill>
                <a:latin typeface="Microsoft YaHei"/>
                <a:ea typeface="Microsoft YaHei"/>
              </a:rPr>
              <a:t>Pearson 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86500" y="4057650"/>
            <a:ext cx="5334000" cy="628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4A5568"/>
                </a:solidFill>
                <a:latin typeface="Microsoft YaHei"/>
                <a:ea typeface="Microsoft YaHei"/>
              </a:rPr>
              <a:t>预测头围与真值头围的线性相关系数，检查是否存在系统性偏差。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86500" y="4781550"/>
            <a:ext cx="5334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0E3F8C"/>
                </a:solidFill>
                <a:latin typeface="Microsoft YaHei"/>
                <a:ea typeface="Microsoft YaHei"/>
              </a:rPr>
              <a:t>本项目：r ≈ 0.999，接近完全线性。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81000" y="5486400"/>
            <a:ext cx="11430000" cy="571500"/>
          </a:xfrm>
          <a:prstGeom prst="roundRect">
            <a:avLst>
              <a:gd name="adj" fmla="val 12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9600" y="5486400"/>
            <a:ext cx="10972800" cy="571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0E3F8C"/>
                </a:solidFill>
                <a:latin typeface="Microsoft YaHei"/>
                <a:ea typeface="Microsoft YaHei"/>
              </a:rPr>
              <a:t>教学要点：</a:t>
            </a:r>
            <a:r>
              <a:rPr sz="1700" b="0" i="0">
                <a:solidFill>
                  <a:srgbClr val="0E3F8C"/>
                </a:solidFill>
                <a:latin typeface="Microsoft YaHei"/>
                <a:ea typeface="Microsoft YaHei"/>
              </a:rPr>
              <a:t>检测指标好 ≠ 测量误差小。评价医学测量任务，必须同时看“框得准不准”和“量得准不准”两类指标。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6250" y="381000"/>
            <a:ext cx="4762500" cy="2476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0" b="1" i="0">
                <a:solidFill>
                  <a:srgbClr val="E8EFF8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762250"/>
            <a:ext cx="6096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3D7BD9"/>
                </a:solidFill>
                <a:latin typeface="Microsoft YaHei"/>
                <a:ea typeface="Microsoft YaHei"/>
              </a:rPr>
              <a:t>PART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067050"/>
            <a:ext cx="647700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0E3F8C"/>
                </a:solidFill>
                <a:latin typeface="Microsoft YaHei"/>
                <a:ea typeface="Microsoft YaHei"/>
              </a:rPr>
              <a:t>实验与结果分析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" y="3848100"/>
            <a:ext cx="857250" cy="571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9600" y="41910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7250" y="4114800"/>
            <a:ext cx="5905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1A2230"/>
                </a:solidFill>
                <a:latin typeface="Microsoft YaHei"/>
                <a:ea typeface="Microsoft YaHei"/>
              </a:rPr>
              <a:t>训练过程：损失收敛与精度爬升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600" y="45720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7250" y="4495800"/>
            <a:ext cx="5905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1A2230"/>
                </a:solidFill>
                <a:latin typeface="Microsoft YaHei"/>
                <a:ea typeface="Microsoft YaHei"/>
              </a:rPr>
              <a:t>性能对比：mAP、参数量与推理速度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600" y="49530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7250" y="4876800"/>
            <a:ext cx="5905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1A2230"/>
                </a:solidFill>
                <a:latin typeface="Microsoft YaHei"/>
                <a:ea typeface="Microsoft YaHei"/>
              </a:rPr>
              <a:t>头围精度：MAD 2.0–2.4 mm，r ≈ 0.999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600" y="53340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250" y="5257800"/>
            <a:ext cx="5905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1A2230"/>
                </a:solidFill>
                <a:latin typeface="Microsoft YaHei"/>
                <a:ea typeface="Microsoft YaHei"/>
              </a:rPr>
              <a:t>结果可视化：验证集与困难样本表现</a:t>
            </a:r>
          </a:p>
        </p:txBody>
      </p:sp>
      <p:pic>
        <p:nvPicPr>
          <p:cNvPr id="15" name="Picture 14" descr="comparison_p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750" y="1905000"/>
            <a:ext cx="4095750" cy="2733675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7524750" y="1905000"/>
            <a:ext cx="4095750" cy="2733675"/>
          </a:xfrm>
          <a:prstGeom prst="rect">
            <a:avLst/>
          </a:prstGeom>
          <a:noFill/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24750" y="4724400"/>
            <a:ext cx="40957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8B97A8"/>
                </a:solidFill>
                <a:latin typeface="Microsoft YaHei"/>
                <a:ea typeface="Microsoft YaHei"/>
              </a:rPr>
              <a:t>两模型四项指标对比总览（compare.py 输出）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0" y="6362700"/>
            <a:ext cx="1905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 i="0">
                <a:solidFill>
                  <a:srgbClr val="1E4FA8"/>
                </a:solidFill>
                <a:latin typeface="Microsoft YaHei"/>
                <a:ea typeface="Microsoft YaHei"/>
              </a:rPr>
              <a:t>17 / 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0"/>
            <a:ext cx="57150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FFFFFF"/>
                </a:solidFill>
                <a:latin typeface="Microsoft YaHei"/>
                <a:ea typeface="Microsoft YaHei"/>
              </a:rPr>
              <a:t>超声胎儿头围检测 · 教学课件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0" y="0"/>
            <a:ext cx="57150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0" i="0">
                <a:solidFill>
                  <a:srgbClr val="FFFFFF"/>
                </a:solidFill>
                <a:latin typeface="Microsoft YaHei"/>
                <a:ea typeface="Microsoft YaHei"/>
              </a:rPr>
              <a:t>第 3 章 · 实验与结果分析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914400"/>
            <a:ext cx="762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" b="0" i="0">
                <a:solidFill>
                  <a:srgbClr val="1A2230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1000" y="952500"/>
            <a:ext cx="76200" cy="304800"/>
          </a:xfrm>
          <a:prstGeom prst="roundRect">
            <a:avLst>
              <a:gd name="adj" fmla="val 3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06000" y="6362700"/>
            <a:ext cx="1905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 i="0">
                <a:solidFill>
                  <a:srgbClr val="1E4FA8"/>
                </a:solidFill>
                <a:latin typeface="Microsoft YaHei"/>
                <a:ea typeface="Microsoft YaHei"/>
              </a:rPr>
              <a:t>18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" y="6362700"/>
            <a:ext cx="5715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8B97A8"/>
                </a:solidFill>
                <a:latin typeface="Microsoft YaHei"/>
                <a:ea typeface="Microsoft YaHei"/>
              </a:rPr>
              <a:t>HC18 胎儿头围检测项目 · 肖雄涛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1000" y="952500"/>
            <a:ext cx="76200" cy="304800"/>
          </a:xfrm>
          <a:prstGeom prst="roundRect">
            <a:avLst>
              <a:gd name="adj" fmla="val 3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0550" y="876300"/>
            <a:ext cx="1000125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E3F8C"/>
                </a:solidFill>
                <a:latin typeface="Microsoft YaHei"/>
                <a:ea typeface="Microsoft YaHei"/>
              </a:rPr>
              <a:t>训练过程：损失收敛与精度爬升</a:t>
            </a:r>
          </a:p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8B97A8"/>
                </a:solidFill>
                <a:latin typeface="Microsoft YaHei"/>
                <a:ea typeface="Microsoft YaHei"/>
              </a:rPr>
              <a:t>  YOLO11n 训练曲线（results.png）</a:t>
            </a:r>
          </a:p>
        </p:txBody>
      </p:sp>
      <p:pic>
        <p:nvPicPr>
          <p:cNvPr id="11" name="Picture 10" descr="results_yolo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524000"/>
            <a:ext cx="6953250" cy="375285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381000" y="1524000"/>
            <a:ext cx="6953250" cy="3752850"/>
          </a:xfrm>
          <a:prstGeom prst="rect">
            <a:avLst/>
          </a:prstGeom>
          <a:noFill/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1000" y="5353050"/>
            <a:ext cx="695325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8B97A8"/>
                </a:solidFill>
                <a:latin typeface="Microsoft YaHei"/>
                <a:ea typeface="Microsoft YaHei"/>
              </a:rPr>
              <a:t>左列：训练损失（box / cls / dfl）；右列：验证精度（P / R / mAP50 / mAP50-95）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62850" y="1524000"/>
            <a:ext cx="4248150" cy="1162050"/>
          </a:xfrm>
          <a:prstGeom prst="roundRect">
            <a:avLst>
              <a:gd name="adj" fmla="val 6000"/>
            </a:avLst>
          </a:prstGeom>
          <a:solidFill>
            <a:srgbClr val="F0F5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53350" y="1657350"/>
            <a:ext cx="386715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E3F8C"/>
                </a:solidFill>
                <a:latin typeface="Microsoft YaHei"/>
                <a:ea typeface="Microsoft YaHei"/>
              </a:rPr>
              <a:t>① 损失快速收敛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53350" y="2019300"/>
            <a:ext cx="3867150" cy="552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A5568"/>
                </a:solidFill>
                <a:latin typeface="Microsoft YaHei"/>
                <a:ea typeface="Microsoft YaHei"/>
              </a:rPr>
              <a:t>三类损失约 10 轮内陡降并趋平稳，验证损失无回升——未出现过拟合。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62850" y="2800350"/>
            <a:ext cx="4248150" cy="1162050"/>
          </a:xfrm>
          <a:prstGeom prst="roundRect">
            <a:avLst>
              <a:gd name="adj" fmla="val 6000"/>
            </a:avLst>
          </a:prstGeom>
          <a:solidFill>
            <a:srgbClr val="F0F5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53350" y="2933700"/>
            <a:ext cx="386715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E3F8C"/>
                </a:solidFill>
                <a:latin typeface="Microsoft YaHei"/>
                <a:ea typeface="Microsoft YaHei"/>
              </a:rPr>
              <a:t>② 精度迅速到位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3350" y="3295650"/>
            <a:ext cx="3867150" cy="552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A5568"/>
                </a:solidFill>
                <a:latin typeface="Microsoft YaHei"/>
                <a:ea typeface="Microsoft YaHei"/>
              </a:rPr>
              <a:t>mAP50 约 10 轮即达 0.99+，最终 0.995；Precision / Recall 双双逼近 1.0。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62850" y="4076700"/>
            <a:ext cx="4248150" cy="1162050"/>
          </a:xfrm>
          <a:prstGeom prst="roundRect">
            <a:avLst>
              <a:gd name="adj" fmla="val 6000"/>
            </a:avLst>
          </a:prstGeom>
          <a:solidFill>
            <a:srgbClr val="F0F5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53350" y="4210050"/>
            <a:ext cx="386715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E3F8C"/>
                </a:solidFill>
                <a:latin typeface="Microsoft YaHei"/>
                <a:ea typeface="Microsoft YaHei"/>
              </a:rPr>
              <a:t>③ 瓶颈在高 IoU 区间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3350" y="4572000"/>
            <a:ext cx="3867150" cy="552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A5568"/>
                </a:solidFill>
                <a:latin typeface="Microsoft YaHei"/>
                <a:ea typeface="Microsoft YaHei"/>
              </a:rPr>
              <a:t>mAP50-95 从 0.87 缓升至 0.95——框的边界精细度才是继续提升的方向。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1000" y="5676900"/>
            <a:ext cx="11430000" cy="533400"/>
          </a:xfrm>
          <a:prstGeom prst="roundRect">
            <a:avLst>
              <a:gd name="adj" fmla="val 12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600" y="5676900"/>
            <a:ext cx="10972800" cy="53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0E3F8C"/>
                </a:solidFill>
                <a:latin typeface="Microsoft YaHei"/>
                <a:ea typeface="Microsoft YaHei"/>
              </a:rPr>
              <a:t>解读：</a:t>
            </a:r>
            <a:r>
              <a:rPr sz="1700" b="0" i="0">
                <a:solidFill>
                  <a:srgbClr val="0E3F8C"/>
                </a:solidFill>
                <a:latin typeface="Microsoft YaHei"/>
                <a:ea typeface="Microsoft YaHei"/>
              </a:rPr>
              <a:t>单类、大目标、形态规律的检测任务相对容易；mAP50-95 的缓慢爬升提示后续应关注椭圆边界的精细回归。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0"/>
            <a:ext cx="57150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FFFFFF"/>
                </a:solidFill>
                <a:latin typeface="Microsoft YaHei"/>
                <a:ea typeface="Microsoft YaHei"/>
              </a:rPr>
              <a:t>超声胎儿头围检测 · 教学课件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0" y="0"/>
            <a:ext cx="57150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0" i="0">
                <a:solidFill>
                  <a:srgbClr val="FFFFFF"/>
                </a:solidFill>
                <a:latin typeface="Microsoft YaHei"/>
                <a:ea typeface="Microsoft YaHei"/>
              </a:rPr>
              <a:t>第 3 章 · 实验与结果分析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914400"/>
            <a:ext cx="762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" b="0" i="0">
                <a:solidFill>
                  <a:srgbClr val="1A2230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1000" y="952500"/>
            <a:ext cx="76200" cy="304800"/>
          </a:xfrm>
          <a:prstGeom prst="roundRect">
            <a:avLst>
              <a:gd name="adj" fmla="val 3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06000" y="6362700"/>
            <a:ext cx="1905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 i="0">
                <a:solidFill>
                  <a:srgbClr val="1E4FA8"/>
                </a:solidFill>
                <a:latin typeface="Microsoft YaHei"/>
                <a:ea typeface="Microsoft YaHei"/>
              </a:rPr>
              <a:t>19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" y="6362700"/>
            <a:ext cx="5715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8B97A8"/>
                </a:solidFill>
                <a:latin typeface="Microsoft YaHei"/>
                <a:ea typeface="Microsoft YaHei"/>
              </a:rPr>
              <a:t>HC18 胎儿头围检测项目 · 肖雄涛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1000" y="952500"/>
            <a:ext cx="76200" cy="304800"/>
          </a:xfrm>
          <a:prstGeom prst="roundRect">
            <a:avLst>
              <a:gd name="adj" fmla="val 3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0550" y="876300"/>
            <a:ext cx="104775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E3F8C"/>
                </a:solidFill>
                <a:latin typeface="Microsoft YaHei"/>
                <a:ea typeface="Microsoft YaHei"/>
              </a:rPr>
              <a:t>检测性能对比：YOLOv8 vs YOLO11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1485900"/>
            <a:ext cx="5619750" cy="1028700"/>
          </a:xfrm>
          <a:prstGeom prst="roundRect">
            <a:avLst>
              <a:gd name="adj" fmla="val 10000"/>
            </a:avLst>
          </a:prstGeom>
          <a:solidFill>
            <a:srgbClr val="F0F5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600" y="1485900"/>
            <a:ext cx="1809750" cy="1028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1" i="0">
                <a:solidFill>
                  <a:srgbClr val="1E4FA8"/>
                </a:solidFill>
                <a:latin typeface="Microsoft YaHei"/>
                <a:ea typeface="Microsoft YaHei"/>
              </a:rPr>
              <a:t>0.995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19350" y="1638300"/>
            <a:ext cx="34290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E3F8C"/>
                </a:solidFill>
                <a:latin typeface="Microsoft YaHei"/>
                <a:ea typeface="Microsoft YaHei"/>
              </a:rPr>
              <a:t>YOLOv8n · mAP50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19350" y="2000250"/>
            <a:ext cx="3429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A5568"/>
                </a:solidFill>
                <a:latin typeface="Microsoft YaHei"/>
                <a:ea typeface="Microsoft YaHei"/>
              </a:rPr>
              <a:t>mAP50-95 0.955 · 参数 3.14M · 6.49 MB · 1.88 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1250" y="1485900"/>
            <a:ext cx="5619750" cy="1028700"/>
          </a:xfrm>
          <a:prstGeom prst="roundRect">
            <a:avLst>
              <a:gd name="adj" fmla="val 10000"/>
            </a:avLst>
          </a:prstGeom>
          <a:solidFill>
            <a:srgbClr val="F0F5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850" y="1485900"/>
            <a:ext cx="1809750" cy="1028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1" i="0">
                <a:solidFill>
                  <a:srgbClr val="1E4FA8"/>
                </a:solidFill>
                <a:latin typeface="Microsoft YaHei"/>
                <a:ea typeface="Microsoft YaHei"/>
              </a:rPr>
              <a:t>0.995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638300"/>
            <a:ext cx="34290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E3F8C"/>
                </a:solidFill>
                <a:latin typeface="Microsoft YaHei"/>
                <a:ea typeface="Microsoft YaHei"/>
              </a:rPr>
              <a:t>YOLO11n · mAP50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000250"/>
            <a:ext cx="3429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A5568"/>
                </a:solidFill>
                <a:latin typeface="Microsoft YaHei"/>
                <a:ea typeface="Microsoft YaHei"/>
              </a:rPr>
              <a:t>mAP50-95 0.952 · 参数 2.60M · 5.49 MB · 2.38 ms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81000" y="2705100"/>
          <a:ext cx="11430000" cy="2628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6500"/>
                <a:gridCol w="2476500"/>
                <a:gridCol w="2476500"/>
                <a:gridCol w="4000500"/>
              </a:tblGrid>
              <a:tr h="438150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指标</a:t>
                      </a:r>
                    </a:p>
                  </a:txBody>
                  <a:tcPr marL="95250" marR="95250" marT="19050" marB="19050" anchor="ctr">
                    <a:solidFill>
                      <a:srgbClr val="1E4FA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YOLOv8n</a:t>
                      </a:r>
                    </a:p>
                  </a:txBody>
                  <a:tcPr marL="95250" marR="95250" marT="19050" marB="19050" anchor="ctr">
                    <a:solidFill>
                      <a:srgbClr val="1E4FA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YOLO11n</a:t>
                      </a:r>
                    </a:p>
                  </a:txBody>
                  <a:tcPr marL="95250" marR="95250" marT="19050" marB="19050" anchor="ctr">
                    <a:solidFill>
                      <a:srgbClr val="1E4FA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解读</a:t>
                      </a:r>
                    </a:p>
                  </a:txBody>
                  <a:tcPr marL="95250" marR="95250" marT="19050" marB="19050" anchor="ctr">
                    <a:solidFill>
                      <a:srgbClr val="1E4FA8"/>
                    </a:solidFill>
                  </a:tcPr>
                </a:tc>
              </a:tr>
              <a:tr h="438150"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mAP50</a:t>
                      </a:r>
                    </a:p>
                  </a:txBody>
                  <a:tcPr marL="9525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0.995</a:t>
                      </a:r>
                    </a:p>
                  </a:txBody>
                  <a:tcPr marL="9525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0.995</a:t>
                      </a:r>
                    </a:p>
                  </a:txBody>
                  <a:tcPr marL="9525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两模型检测精度持平</a:t>
                      </a:r>
                    </a:p>
                  </a:txBody>
                  <a:tcPr marL="95250" marR="95250" marT="19050" marB="19050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mAP50-95</a:t>
                      </a:r>
                    </a:p>
                  </a:txBody>
                  <a:tcPr marL="95250" marR="95250" marT="19050" marB="1905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0.955</a:t>
                      </a:r>
                    </a:p>
                  </a:txBody>
                  <a:tcPr marL="95250" marR="95250" marT="19050" marB="1905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0.952</a:t>
                      </a:r>
                    </a:p>
                  </a:txBody>
                  <a:tcPr marL="95250" marR="95250" marT="19050" marB="1905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高 IoU 区间 v8 略占优</a:t>
                      </a:r>
                    </a:p>
                  </a:txBody>
                  <a:tcPr marL="95250" marR="95250" marT="19050" marB="19050" anchor="ctr">
                    <a:solidFill>
                      <a:srgbClr val="F7F9FC"/>
                    </a:solidFill>
                  </a:tcPr>
                </a:tc>
              </a:tr>
              <a:tr h="438150"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Precision / Recall</a:t>
                      </a:r>
                    </a:p>
                  </a:txBody>
                  <a:tcPr marL="9525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0.990 / 1.000</a:t>
                      </a:r>
                    </a:p>
                  </a:txBody>
                  <a:tcPr marL="9525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0.994 / 1.000</a:t>
                      </a:r>
                    </a:p>
                  </a:txBody>
                  <a:tcPr marL="9525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验证集全部正确检出</a:t>
                      </a:r>
                    </a:p>
                  </a:txBody>
                  <a:tcPr marL="95250" marR="95250" marT="19050" marB="19050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参数量 / 权重体积</a:t>
                      </a:r>
                    </a:p>
                  </a:txBody>
                  <a:tcPr marL="95250" marR="95250" marT="19050" marB="1905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3.14M / 6.49 MB</a:t>
                      </a:r>
                    </a:p>
                  </a:txBody>
                  <a:tcPr marL="95250" marR="95250" marT="19050" marB="1905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2.60M / 5.49 MB</a:t>
                      </a:r>
                    </a:p>
                  </a:txBody>
                  <a:tcPr marL="95250" marR="95250" marT="19050" marB="1905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YOLO11 少约 17% 参数</a:t>
                      </a:r>
                    </a:p>
                  </a:txBody>
                  <a:tcPr marL="95250" marR="95250" marT="19050" marB="19050" anchor="ctr">
                    <a:solidFill>
                      <a:srgbClr val="F7F9FC"/>
                    </a:solidFill>
                  </a:tcPr>
                </a:tc>
              </a:tr>
              <a:tr h="438150"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推理时延</a:t>
                      </a:r>
                    </a:p>
                  </a:txBody>
                  <a:tcPr marL="9525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1.88 ms</a:t>
                      </a:r>
                    </a:p>
                  </a:txBody>
                  <a:tcPr marL="9525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2.38 ms</a:t>
                      </a:r>
                    </a:p>
                  </a:txBody>
                  <a:tcPr marL="9525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v8 推理更快</a:t>
                      </a:r>
                    </a:p>
                  </a:txBody>
                  <a:tcPr marL="95250" marR="9525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381000" y="5562600"/>
            <a:ext cx="11430000" cy="590550"/>
          </a:xfrm>
          <a:prstGeom prst="roundRect">
            <a:avLst>
              <a:gd name="adj" fmla="val 12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600" y="5562600"/>
            <a:ext cx="10972800" cy="590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E3F8C"/>
                </a:solidFill>
                <a:latin typeface="Microsoft YaHei"/>
                <a:ea typeface="Microsoft YaHei"/>
              </a:rPr>
              <a:t>结论：</a:t>
            </a:r>
            <a:r>
              <a:rPr sz="1600" b="0" i="0">
                <a:solidFill>
                  <a:srgbClr val="0E3F8C"/>
                </a:solidFill>
                <a:latin typeface="Microsoft YaHei"/>
                <a:ea typeface="Microsoft YaHei"/>
              </a:rPr>
              <a:t>YOLO11 以更少参数达到同等精度，更适合边缘设备部署；追求极致推理速度时可选 YOLOv8。数据来源：runs/comparison/comparison_metrics.csv。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0"/>
            <a:ext cx="57150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FFFFFF"/>
                </a:solidFill>
                <a:latin typeface="Microsoft YaHei"/>
                <a:ea typeface="Microsoft YaHei"/>
              </a:rPr>
              <a:t>超声胎儿头围检测 · 教学课件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0" y="0"/>
            <a:ext cx="57150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0" i="0">
                <a:solidFill>
                  <a:srgbClr val="FFFFFF"/>
                </a:solidFill>
                <a:latin typeface="Microsoft YaHei"/>
                <a:ea typeface="Microsoft YaHei"/>
              </a:rPr>
              <a:t>第 3 章 · 实验与结果分析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914400"/>
            <a:ext cx="762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" b="0" i="0">
                <a:solidFill>
                  <a:srgbClr val="1A2230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1000" y="952500"/>
            <a:ext cx="76200" cy="304800"/>
          </a:xfrm>
          <a:prstGeom prst="roundRect">
            <a:avLst>
              <a:gd name="adj" fmla="val 3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06000" y="6362700"/>
            <a:ext cx="1905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 i="0">
                <a:solidFill>
                  <a:srgbClr val="1E4FA8"/>
                </a:solidFill>
                <a:latin typeface="Microsoft YaHei"/>
                <a:ea typeface="Microsoft YaHei"/>
              </a:rPr>
              <a:t>20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" y="6362700"/>
            <a:ext cx="5715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8B97A8"/>
                </a:solidFill>
                <a:latin typeface="Microsoft YaHei"/>
                <a:ea typeface="Microsoft YaHei"/>
              </a:rPr>
              <a:t>HC18 胎儿头围检测项目 · 肖雄涛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1000" y="952500"/>
            <a:ext cx="76200" cy="304800"/>
          </a:xfrm>
          <a:prstGeom prst="roundRect">
            <a:avLst>
              <a:gd name="adj" fmla="val 3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0550" y="876300"/>
            <a:ext cx="1000125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E3F8C"/>
                </a:solidFill>
                <a:latin typeface="Microsoft YaHei"/>
                <a:ea typeface="Microsoft YaHei"/>
              </a:rPr>
              <a:t>头围估计精度：MAD / DSC / 相关性</a:t>
            </a:r>
          </a:p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8B97A8"/>
                </a:solidFill>
                <a:latin typeface="Microsoft YaHei"/>
                <a:ea typeface="Microsoft YaHei"/>
              </a:rPr>
              <a:t>  以检测框拟合椭圆换算毫米后对比官方真值</a:t>
            </a:r>
          </a:p>
        </p:txBody>
      </p:sp>
      <p:pic>
        <p:nvPicPr>
          <p:cNvPr id="11" name="Picture 10" descr="comparison_p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485900"/>
            <a:ext cx="5619750" cy="405765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381000" y="1485900"/>
            <a:ext cx="5619750" cy="4057650"/>
          </a:xfrm>
          <a:prstGeom prst="rect">
            <a:avLst/>
          </a:prstGeom>
          <a:noFill/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1000" y="5619750"/>
            <a:ext cx="59055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8B97A8"/>
                </a:solidFill>
                <a:latin typeface="Microsoft YaHei"/>
                <a:ea typeface="Microsoft YaHei"/>
              </a:rPr>
              <a:t>compare.py 输出的四联对比图（检测精度 / 头围误差 / Dice / 相关性）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15100" y="1485900"/>
            <a:ext cx="5295900" cy="1314450"/>
          </a:xfrm>
          <a:prstGeom prst="roundRect">
            <a:avLst>
              <a:gd name="adj" fmla="val 10000"/>
            </a:avLst>
          </a:prstGeom>
          <a:solidFill>
            <a:srgbClr val="F0F5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05600" y="1485900"/>
            <a:ext cx="1524000" cy="1314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1E4FA8"/>
                </a:solidFill>
                <a:latin typeface="Microsoft YaHei"/>
                <a:ea typeface="Microsoft YaHei"/>
              </a:rPr>
              <a:t>2.03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695450"/>
            <a:ext cx="3429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E3F8C"/>
                </a:solidFill>
                <a:latin typeface="Microsoft YaHei"/>
                <a:ea typeface="Microsoft YaHei"/>
              </a:rPr>
              <a:t>MAD（YOLOv8）vs 2.39（YOLO11）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038350"/>
            <a:ext cx="3429000" cy="628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4A5568"/>
                </a:solidFill>
                <a:latin typeface="Microsoft YaHei"/>
                <a:ea typeface="Microsoft YaHei"/>
              </a:rPr>
              <a:t>相对平均头围 174 mm，误差约 1.2–1.4%，头围估计相当可靠。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15100" y="2933700"/>
            <a:ext cx="5295900" cy="1314450"/>
          </a:xfrm>
          <a:prstGeom prst="roundRect">
            <a:avLst>
              <a:gd name="adj" fmla="val 10000"/>
            </a:avLst>
          </a:prstGeom>
          <a:solidFill>
            <a:srgbClr val="F0F5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05600" y="2933700"/>
            <a:ext cx="1524000" cy="1314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1E4FA8"/>
                </a:solidFill>
                <a:latin typeface="Microsoft YaHei"/>
                <a:ea typeface="Microsoft YaHei"/>
              </a:rPr>
              <a:t>0.97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143250"/>
            <a:ext cx="3429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E3F8C"/>
                </a:solidFill>
                <a:latin typeface="Microsoft YaHei"/>
                <a:ea typeface="Microsoft YaHei"/>
              </a:rPr>
              <a:t>DSC ≈ 0.970（两模型一致）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486150"/>
            <a:ext cx="3429000" cy="628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4A5568"/>
                </a:solidFill>
                <a:latin typeface="Microsoft YaHei"/>
                <a:ea typeface="Microsoft YaHei"/>
              </a:rPr>
              <a:t>预测椭圆与真实椭圆区域高度重叠，形状还原质量好。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15100" y="4381500"/>
            <a:ext cx="5295900" cy="1314450"/>
          </a:xfrm>
          <a:prstGeom prst="roundRect">
            <a:avLst>
              <a:gd name="adj" fmla="val 10000"/>
            </a:avLst>
          </a:prstGeom>
          <a:solidFill>
            <a:srgbClr val="F0F5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05600" y="4381500"/>
            <a:ext cx="1524000" cy="1314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1E4FA8"/>
                </a:solidFill>
                <a:latin typeface="Microsoft YaHei"/>
                <a:ea typeface="Microsoft YaHei"/>
              </a:rPr>
              <a:t>0.999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591050"/>
            <a:ext cx="3429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E3F8C"/>
                </a:solidFill>
                <a:latin typeface="Microsoft YaHei"/>
                <a:ea typeface="Microsoft YaHei"/>
              </a:rPr>
              <a:t>Pearson r ≈ 0.999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933950"/>
            <a:ext cx="3429000" cy="628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4A5568"/>
                </a:solidFill>
                <a:latin typeface="Microsoft YaHei"/>
                <a:ea typeface="Microsoft YaHei"/>
              </a:rPr>
              <a:t>预测与真值接近完全线性，无系统性高估或低估。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1000" y="5905500"/>
            <a:ext cx="11430000" cy="342900"/>
          </a:xfrm>
          <a:prstGeom prst="roundRect">
            <a:avLst>
              <a:gd name="adj" fmla="val 12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9600" y="5905500"/>
            <a:ext cx="109728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Microsoft YaHei"/>
                <a:ea typeface="Microsoft YaHei"/>
              </a:rPr>
              <a:t>教学要点：</a:t>
            </a:r>
            <a:r>
              <a:rPr sz="1500" b="0" i="0">
                <a:solidFill>
                  <a:srgbClr val="0E3F8C"/>
                </a:solidFill>
                <a:latin typeface="Microsoft YaHei"/>
                <a:ea typeface="Microsoft YaHei"/>
              </a:rPr>
              <a:t>检测框好，头围才准——框的边界误差会通过椭圆周长直接传递到毫米级测量结果。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0"/>
            <a:ext cx="57150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FFFFFF"/>
                </a:solidFill>
                <a:latin typeface="Microsoft YaHei"/>
                <a:ea typeface="Microsoft YaHei"/>
              </a:rPr>
              <a:t>超声胎儿头围检测 · 教学课件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0" y="0"/>
            <a:ext cx="57150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0" i="0">
                <a:solidFill>
                  <a:srgbClr val="FFFFFF"/>
                </a:solidFill>
                <a:latin typeface="Microsoft YaHei"/>
                <a:ea typeface="Microsoft YaHei"/>
              </a:rPr>
              <a:t>第 3 章 · 实验与结果分析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914400"/>
            <a:ext cx="762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" b="0" i="0">
                <a:solidFill>
                  <a:srgbClr val="1A2230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1000" y="952500"/>
            <a:ext cx="76200" cy="304800"/>
          </a:xfrm>
          <a:prstGeom prst="roundRect">
            <a:avLst>
              <a:gd name="adj" fmla="val 3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06000" y="6362700"/>
            <a:ext cx="1905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 i="0">
                <a:solidFill>
                  <a:srgbClr val="1E4FA8"/>
                </a:solidFill>
                <a:latin typeface="Microsoft YaHei"/>
                <a:ea typeface="Microsoft YaHei"/>
              </a:rPr>
              <a:t>21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" y="6362700"/>
            <a:ext cx="5715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8B97A8"/>
                </a:solidFill>
                <a:latin typeface="Microsoft YaHei"/>
                <a:ea typeface="Microsoft YaHei"/>
              </a:rPr>
              <a:t>HC18 胎儿头围检测项目 · 肖雄涛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1000" y="952500"/>
            <a:ext cx="76200" cy="304800"/>
          </a:xfrm>
          <a:prstGeom prst="roundRect">
            <a:avLst>
              <a:gd name="adj" fmla="val 3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0550" y="876300"/>
            <a:ext cx="1000125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E3F8C"/>
                </a:solidFill>
                <a:latin typeface="Microsoft YaHei"/>
                <a:ea typeface="Microsoft YaHei"/>
              </a:rPr>
              <a:t>检测结果可视化：模型看到了什么</a:t>
            </a:r>
          </a:p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8B97A8"/>
                </a:solidFill>
                <a:latin typeface="Microsoft YaHei"/>
                <a:ea typeface="Microsoft YaHei"/>
              </a:rPr>
              <a:t>  YOLO11n · 验证集预测（val_batch0_pred）</a:t>
            </a:r>
          </a:p>
        </p:txBody>
      </p:sp>
      <p:pic>
        <p:nvPicPr>
          <p:cNvPr id="11" name="Picture 10" descr="val_pred_yolo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485900"/>
            <a:ext cx="6667500" cy="44958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381000" y="1485900"/>
            <a:ext cx="6667500" cy="4495800"/>
          </a:xfrm>
          <a:prstGeom prst="rect">
            <a:avLst/>
          </a:prstGeom>
          <a:noFill/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1000" y="6038850"/>
            <a:ext cx="676275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8B97A8"/>
                </a:solidFill>
                <a:latin typeface="Microsoft YaHei"/>
                <a:ea typeface="Microsoft YaHei"/>
              </a:rPr>
              <a:t>验证集 16 张预测：蓝色框为 fetal_head 检测结果，右上角为置信度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72350" y="1485900"/>
            <a:ext cx="4438650" cy="1409700"/>
          </a:xfrm>
          <a:prstGeom prst="roundRect">
            <a:avLst>
              <a:gd name="adj" fmla="val 6000"/>
            </a:avLst>
          </a:prstGeom>
          <a:solidFill>
            <a:srgbClr val="F0F5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62850" y="1619250"/>
            <a:ext cx="405765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0E3F8C"/>
                </a:solidFill>
                <a:latin typeface="Microsoft YaHei"/>
                <a:ea typeface="Microsoft YaHei"/>
              </a:rPr>
              <a:t>① 全检出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62850" y="1981200"/>
            <a:ext cx="4057650" cy="800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4A5568"/>
                </a:solidFill>
                <a:latin typeface="Microsoft YaHei"/>
                <a:ea typeface="Microsoft YaHei"/>
              </a:rPr>
              <a:t>该批次全部图像检出胎头（Recall = 1.0），置信度普遍 0.7–1.0。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72350" y="3028950"/>
            <a:ext cx="4438650" cy="1409700"/>
          </a:xfrm>
          <a:prstGeom prst="roundRect">
            <a:avLst>
              <a:gd name="adj" fmla="val 6000"/>
            </a:avLst>
          </a:prstGeom>
          <a:solidFill>
            <a:srgbClr val="F0F5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62850" y="3162300"/>
            <a:ext cx="405765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0E3F8C"/>
                </a:solidFill>
                <a:latin typeface="Microsoft YaHei"/>
                <a:ea typeface="Microsoft YaHei"/>
              </a:rPr>
              <a:t>② 困难样本也稳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62850" y="3524250"/>
            <a:ext cx="4057650" cy="800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4A5568"/>
                </a:solidFill>
                <a:latin typeface="Microsoft YaHei"/>
                <a:ea typeface="Microsoft YaHei"/>
              </a:rPr>
              <a:t>小孕周小胎头、混响伪影、体位偏斜等困难样本仍被稳定框选。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72350" y="4572000"/>
            <a:ext cx="4438650" cy="1409700"/>
          </a:xfrm>
          <a:prstGeom prst="roundRect">
            <a:avLst>
              <a:gd name="adj" fmla="val 6000"/>
            </a:avLst>
          </a:prstGeom>
          <a:solidFill>
            <a:srgbClr val="F0F5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62850" y="4705350"/>
            <a:ext cx="405765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0E3F8C"/>
                </a:solidFill>
                <a:latin typeface="Microsoft YaHei"/>
                <a:ea typeface="Microsoft YaHei"/>
              </a:rPr>
              <a:t>③ 框即测量入口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62850" y="5067300"/>
            <a:ext cx="4057650" cy="800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4A5568"/>
                </a:solidFill>
                <a:latin typeface="Microsoft YaHei"/>
                <a:ea typeface="Microsoft YaHei"/>
              </a:rPr>
              <a:t>框贴合颅骨椭圆轮廓，可直接进入“拟合椭圆 → 换算毫米”环节。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1000" y="6305550"/>
            <a:ext cx="11430000" cy="419100"/>
          </a:xfrm>
          <a:prstGeom prst="roundRect">
            <a:avLst>
              <a:gd name="adj" fmla="val 12000"/>
            </a:avLst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1000" y="6305550"/>
            <a:ext cx="1143000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</a:rPr>
              <a:t>预测框 → 拟合椭圆 → 周长 × 像素尺寸 → 头围（mm）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06000" y="6362700"/>
            <a:ext cx="1905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</a:rPr>
              <a:t>21 / 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6250" y="381000"/>
            <a:ext cx="4762500" cy="2476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0" b="1" i="0">
                <a:solidFill>
                  <a:srgbClr val="E8EFF8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762250"/>
            <a:ext cx="6096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3D7BD9"/>
                </a:solidFill>
                <a:latin typeface="Microsoft YaHei"/>
                <a:ea typeface="Microsoft YaHei"/>
              </a:rPr>
              <a:t>PART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067050"/>
            <a:ext cx="647700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0E3F8C"/>
                </a:solidFill>
                <a:latin typeface="Microsoft YaHei"/>
                <a:ea typeface="Microsoft YaHei"/>
              </a:rPr>
              <a:t>课堂任务 · 动手实践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" y="3848100"/>
            <a:ext cx="857250" cy="571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9600" y="41910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7250" y="4114800"/>
            <a:ext cx="5905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1A2230"/>
                </a:solidFill>
                <a:latin typeface="Microsoft YaHei"/>
                <a:ea typeface="Microsoft YaHei"/>
              </a:rPr>
              <a:t>任务：用 best.pt 对官方测试集完成一次头围自动测量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600" y="45720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7250" y="4495800"/>
            <a:ext cx="5905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1A2230"/>
                </a:solidFill>
                <a:latin typeface="Microsoft YaHei"/>
                <a:ea typeface="Microsoft YaHei"/>
              </a:rPr>
              <a:t>三个环节：批量推理 → 几何换算 → 合理性检查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600" y="49530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7250" y="4876800"/>
            <a:ext cx="5905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1A2230"/>
                </a:solidFill>
                <a:latin typeface="Microsoft YaHei"/>
                <a:ea typeface="Microsoft YaHei"/>
              </a:rPr>
              <a:t>配套脚本 scripts/class_task.py，可直接运行复现</a:t>
            </a:r>
          </a:p>
        </p:txBody>
      </p:sp>
      <p:pic>
        <p:nvPicPr>
          <p:cNvPr id="13" name="Picture 12" descr="task_vis_s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750" y="1905000"/>
            <a:ext cx="4095750" cy="2733675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524750" y="1905000"/>
            <a:ext cx="4095750" cy="2733675"/>
          </a:xfrm>
          <a:prstGeom prst="rect">
            <a:avLst/>
          </a:prstGeom>
          <a:noFill/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24750" y="4724400"/>
            <a:ext cx="40957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8B97A8"/>
                </a:solidFill>
                <a:latin typeface="Microsoft YaHei"/>
                <a:ea typeface="Microsoft YaHei"/>
              </a:rPr>
              <a:t>任务输出示例：检测框 + 拟合椭圆 + 头围标注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06000" y="6362700"/>
            <a:ext cx="1905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 i="0">
                <a:solidFill>
                  <a:srgbClr val="1E4FA8"/>
                </a:solidFill>
                <a:latin typeface="Microsoft YaHei"/>
                <a:ea typeface="Microsoft YaHei"/>
              </a:rPr>
              <a:t>22 / 27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0"/>
            <a:ext cx="57150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FFFFFF"/>
                </a:solidFill>
                <a:latin typeface="Microsoft YaHei"/>
                <a:ea typeface="Microsoft YaHei"/>
              </a:rPr>
              <a:t>超声胎儿头围检测 · 教学课件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0" y="0"/>
            <a:ext cx="57150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0" i="0">
                <a:solidFill>
                  <a:srgbClr val="FFFFFF"/>
                </a:solidFill>
                <a:latin typeface="Microsoft YaHei"/>
                <a:ea typeface="Microsoft YaHei"/>
              </a:rPr>
              <a:t>第 4 章 · 课堂任务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914400"/>
            <a:ext cx="762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" b="0" i="0">
                <a:solidFill>
                  <a:srgbClr val="1A2230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1000" y="952500"/>
            <a:ext cx="76200" cy="304800"/>
          </a:xfrm>
          <a:prstGeom prst="roundRect">
            <a:avLst>
              <a:gd name="adj" fmla="val 3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06000" y="6362700"/>
            <a:ext cx="1905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 i="0">
                <a:solidFill>
                  <a:srgbClr val="1E4FA8"/>
                </a:solidFill>
                <a:latin typeface="Microsoft YaHei"/>
                <a:ea typeface="Microsoft YaHei"/>
              </a:rPr>
              <a:t>23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" y="6362700"/>
            <a:ext cx="5715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8B97A8"/>
                </a:solidFill>
                <a:latin typeface="Microsoft YaHei"/>
                <a:ea typeface="Microsoft YaHei"/>
              </a:rPr>
              <a:t>HC18 胎儿头围检测项目 · 肖雄涛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1000" y="952500"/>
            <a:ext cx="76200" cy="304800"/>
          </a:xfrm>
          <a:prstGeom prst="roundRect">
            <a:avLst>
              <a:gd name="adj" fmla="val 3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0550" y="876300"/>
            <a:ext cx="1000125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E3F8C"/>
                </a:solidFill>
                <a:latin typeface="Microsoft YaHei"/>
                <a:ea typeface="Microsoft YaHei"/>
              </a:rPr>
              <a:t>课堂任务书：头围自动测量挑战</a:t>
            </a:r>
          </a:p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8B97A8"/>
                </a:solidFill>
                <a:latin typeface="Microsoft YaHei"/>
                <a:ea typeface="Microsoft YaHei"/>
              </a:rPr>
              <a:t>  建议用时 30 分钟 · 1–2 人一组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1485900"/>
            <a:ext cx="5334000" cy="2266950"/>
          </a:xfrm>
          <a:prstGeom prst="roundRect">
            <a:avLst>
              <a:gd name="adj" fmla="val 8000"/>
            </a:avLst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8650" y="1638300"/>
            <a:ext cx="485775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</a:rPr>
              <a:t>任务背景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650" y="1962150"/>
            <a:ext cx="4857750" cy="876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b="0" i="0">
                <a:solidFill>
                  <a:srgbClr val="FFFFFF"/>
                </a:solidFill>
                <a:latin typeface="Microsoft YaHei"/>
                <a:ea typeface="Microsoft YaHei"/>
              </a:rPr>
              <a:t>你是算法实习生。临床同事交给你 335 张无标注的官方测试集超声图，要求用训练好的 YOLO11n 模型自动测出每张图的胎儿头围（mm），并核对结果是否合理。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650" y="2857500"/>
            <a:ext cx="4857750" cy="800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</a:rPr>
              <a:t>任务输入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FFFFFF"/>
                </a:solidFill>
                <a:latin typeface="Consolas"/>
                <a:ea typeface="Consolas"/>
              </a:rPr>
              <a:t>best.pt · data/test_set/ · test_set_pixel_size.csv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C7D8F5"/>
                </a:solidFill>
                <a:latin typeface="Microsoft YaHei"/>
                <a:ea typeface="Microsoft YaHei"/>
              </a:rPr>
              <a:t>输出：每张图的头围 hc_mm（毫米）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1485900"/>
            <a:ext cx="5867400" cy="857250"/>
          </a:xfrm>
          <a:prstGeom prst="roundRect">
            <a:avLst>
              <a:gd name="adj" fmla="val 10000"/>
            </a:avLst>
          </a:prstGeom>
          <a:solidFill>
            <a:srgbClr val="F0F5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34100" y="1743075"/>
            <a:ext cx="342900" cy="342900"/>
          </a:xfrm>
          <a:prstGeom prst="roundRect">
            <a:avLst>
              <a:gd name="adj" fmla="val 25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34100" y="1743075"/>
            <a:ext cx="3429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1600200"/>
            <a:ext cx="50482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E3F8C"/>
                </a:solidFill>
                <a:latin typeface="Microsoft YaHei"/>
                <a:ea typeface="Microsoft YaHei"/>
              </a:rPr>
              <a:t>运行脚本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1866900"/>
            <a:ext cx="504825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A5568"/>
                </a:solidFill>
                <a:latin typeface="Consolas"/>
                <a:ea typeface="Consolas"/>
              </a:rPr>
              <a:t>python scripts/class_task.py --model &lt;best.pt&gt; --num 20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A5568"/>
                </a:solidFill>
                <a:latin typeface="Microsoft YaHei"/>
                <a:ea typeface="Microsoft YaHei"/>
              </a:rPr>
              <a:t>--out runs/class_task ｜ --num 0 表示全部 335 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0" y="2438400"/>
            <a:ext cx="5867400" cy="857250"/>
          </a:xfrm>
          <a:prstGeom prst="roundRect">
            <a:avLst>
              <a:gd name="adj" fmla="val 10000"/>
            </a:avLst>
          </a:prstGeom>
          <a:solidFill>
            <a:srgbClr val="F0F5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34100" y="2695575"/>
            <a:ext cx="342900" cy="342900"/>
          </a:xfrm>
          <a:prstGeom prst="roundRect">
            <a:avLst>
              <a:gd name="adj" fmla="val 25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34100" y="2695575"/>
            <a:ext cx="3429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2552700"/>
            <a:ext cx="50482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E3F8C"/>
                </a:solidFill>
                <a:latin typeface="Microsoft YaHei"/>
                <a:ea typeface="Microsoft YaHei"/>
              </a:rPr>
              <a:t>逐图结果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2819400"/>
            <a:ext cx="504825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4A5568"/>
                </a:solidFill>
                <a:latin typeface="Microsoft YaHei"/>
                <a:ea typeface="Microsoft YaHei"/>
              </a:rPr>
              <a:t>打开 runs/class_task/task_predictions.csv：每张图的置信度、椭圆半轴与 hc_mm。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0" y="3390900"/>
            <a:ext cx="5867400" cy="857250"/>
          </a:xfrm>
          <a:prstGeom prst="roundRect">
            <a:avLst>
              <a:gd name="adj" fmla="val 10000"/>
            </a:avLst>
          </a:prstGeom>
          <a:solidFill>
            <a:srgbClr val="F0F5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34100" y="3648075"/>
            <a:ext cx="342900" cy="342900"/>
          </a:xfrm>
          <a:prstGeom prst="roundRect">
            <a:avLst>
              <a:gd name="adj" fmla="val 25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4100" y="3648075"/>
            <a:ext cx="3429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3505200"/>
            <a:ext cx="50482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E3F8C"/>
                </a:solidFill>
                <a:latin typeface="Microsoft YaHei"/>
                <a:ea typeface="Microsoft YaHei"/>
              </a:rPr>
              <a:t>合理性检查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771900"/>
            <a:ext cx="504825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4A5568"/>
                </a:solidFill>
                <a:latin typeface="Microsoft YaHei"/>
                <a:ea typeface="Microsoft YaHei"/>
              </a:rPr>
              <a:t>查看 hc_distribution.png 头围分布与 vis_samples.png 可视化样张，人工核对框和数值。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0" y="4343400"/>
            <a:ext cx="5867400" cy="857250"/>
          </a:xfrm>
          <a:prstGeom prst="roundRect">
            <a:avLst>
              <a:gd name="adj" fmla="val 10000"/>
            </a:avLst>
          </a:prstGeom>
          <a:solidFill>
            <a:srgbClr val="F0F5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134100" y="4600575"/>
            <a:ext cx="342900" cy="342900"/>
          </a:xfrm>
          <a:prstGeom prst="roundRect">
            <a:avLst>
              <a:gd name="adj" fmla="val 25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34100" y="4600575"/>
            <a:ext cx="3429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4457700"/>
            <a:ext cx="50482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E3F8C"/>
                </a:solidFill>
                <a:latin typeface="Microsoft YaHei"/>
                <a:ea typeface="Microsoft YaHei"/>
              </a:rPr>
              <a:t>完成分析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4724400"/>
            <a:ext cx="504825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4A5568"/>
                </a:solidFill>
                <a:latin typeface="Microsoft YaHei"/>
                <a:ea typeface="Microsoft YaHei"/>
              </a:rPr>
              <a:t>写 200 字分析：头围范围是否覆盖小孕周到足月？哪类图像最可能出错？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81000" y="3886200"/>
            <a:ext cx="5334000" cy="533400"/>
          </a:xfrm>
          <a:prstGeom prst="roundRect">
            <a:avLst>
              <a:gd name="adj" fmla="val 12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9600" y="3886200"/>
            <a:ext cx="4876800" cy="53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Microsoft YaHei"/>
                <a:ea typeface="Microsoft YaHei"/>
              </a:rPr>
              <a:t>交付物：</a:t>
            </a:r>
            <a:r>
              <a:rPr sz="1400" b="0" i="0">
                <a:solidFill>
                  <a:srgbClr val="0E3F8C"/>
                </a:solidFill>
                <a:latin typeface="Microsoft YaHei"/>
                <a:ea typeface="Microsoft YaHei"/>
              </a:rPr>
              <a:t>task_predictions.csv + 200 字分析 + 1 个易错样例截图。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81000" y="4552950"/>
            <a:ext cx="5334000" cy="1695450"/>
          </a:xfrm>
          <a:prstGeom prst="roundRect">
            <a:avLst>
              <a:gd name="adj" fmla="val 8000"/>
            </a:avLst>
          </a:prstGeom>
          <a:solidFill>
            <a:srgbClr val="E8EFF8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9600" y="4667250"/>
            <a:ext cx="48768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E3F8C"/>
                </a:solidFill>
                <a:latin typeface="Microsoft YaHei"/>
                <a:ea typeface="Microsoft YaHei"/>
              </a:rPr>
              <a:t>进阶挑战（三选一）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9600" y="4972050"/>
            <a:ext cx="4876800" cy="1200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4A5568"/>
                </a:solidFill>
                <a:latin typeface="Microsoft YaHei"/>
                <a:ea typeface="Microsoft YaHei"/>
              </a:rPr>
              <a:t>A. --num 0 跑全部 335 张，找出置信度最低的 5 张图。</a:t>
            </a:r>
          </a:p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4A5568"/>
                </a:solidFill>
                <a:latin typeface="Microsoft YaHei"/>
                <a:ea typeface="Microsoft YaHei"/>
              </a:rPr>
              <a:t>B. 分别用 YOLOv8n 与 YOLO11n 各跑一遍，找头围差 &gt; 5 mm 的图并分析原因。</a:t>
            </a:r>
          </a:p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4A5568"/>
                </a:solidFill>
                <a:latin typeface="Microsoft YaHei"/>
                <a:ea typeface="Microsoft YaHei"/>
              </a:rPr>
              <a:t>C. 验证“正圆假设”是否在斜位胎头上高估头围？（提示：按 ground truth 的 angle 分组对比）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0"/>
            <a:ext cx="57150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FFFFFF"/>
                </a:solidFill>
                <a:latin typeface="Microsoft YaHei"/>
                <a:ea typeface="Microsoft YaHei"/>
              </a:rPr>
              <a:t>超声胎儿头围检测 · 教学课件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0" y="0"/>
            <a:ext cx="57150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0" i="0">
                <a:solidFill>
                  <a:srgbClr val="FFFFFF"/>
                </a:solidFill>
                <a:latin typeface="Microsoft YaHei"/>
                <a:ea typeface="Microsoft YaHei"/>
              </a:rPr>
              <a:t>第 4 章 · 课堂任务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914400"/>
            <a:ext cx="762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" b="0" i="0">
                <a:solidFill>
                  <a:srgbClr val="1A2230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1000" y="952500"/>
            <a:ext cx="76200" cy="304800"/>
          </a:xfrm>
          <a:prstGeom prst="roundRect">
            <a:avLst>
              <a:gd name="adj" fmla="val 3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06000" y="6362700"/>
            <a:ext cx="1905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 i="0">
                <a:solidFill>
                  <a:srgbClr val="1E4FA8"/>
                </a:solidFill>
                <a:latin typeface="Microsoft YaHei"/>
                <a:ea typeface="Microsoft YaHei"/>
              </a:rPr>
              <a:t>24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" y="6362700"/>
            <a:ext cx="5715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8B97A8"/>
                </a:solidFill>
                <a:latin typeface="Microsoft YaHei"/>
                <a:ea typeface="Microsoft YaHei"/>
              </a:rPr>
              <a:t>HC18 胎儿头围检测项目 · 肖雄涛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1000" y="952500"/>
            <a:ext cx="76200" cy="304800"/>
          </a:xfrm>
          <a:prstGeom prst="roundRect">
            <a:avLst>
              <a:gd name="adj" fmla="val 3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0550" y="876300"/>
            <a:ext cx="1000125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E3F8C"/>
                </a:solidFill>
                <a:latin typeface="Microsoft YaHei"/>
                <a:ea typeface="Microsoft YaHei"/>
              </a:rPr>
              <a:t>任务参考输出与课堂讨论</a:t>
            </a:r>
          </a:p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8B97A8"/>
                </a:solidFill>
                <a:latin typeface="Microsoft YaHei"/>
                <a:ea typeface="Microsoft YaHei"/>
              </a:rPr>
              <a:t>  class_task.py 实际运行结果（--num 12）</a:t>
            </a:r>
          </a:p>
        </p:txBody>
      </p:sp>
      <p:pic>
        <p:nvPicPr>
          <p:cNvPr id="11" name="Picture 10" descr="task_vis_s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485900"/>
            <a:ext cx="6096000" cy="355282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381000" y="1485900"/>
            <a:ext cx="6096000" cy="3552825"/>
          </a:xfrm>
          <a:prstGeom prst="rect">
            <a:avLst/>
          </a:prstGeom>
          <a:noFill/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1000" y="5086350"/>
            <a:ext cx="60960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8B97A8"/>
                </a:solidFill>
                <a:latin typeface="Microsoft YaHei"/>
                <a:ea typeface="Microsoft YaHei"/>
              </a:rPr>
              <a:t>可视化样张：红框 = YOLO 检测框，蓝椭圆 = 由框拟合的椭圆，左上角为头围与置信度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1000" y="5391150"/>
            <a:ext cx="6096000" cy="952500"/>
          </a:xfrm>
          <a:prstGeom prst="roundRect">
            <a:avLst>
              <a:gd name="adj" fmla="val 1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600" y="5505450"/>
            <a:ext cx="56388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E3F8C"/>
                </a:solidFill>
                <a:latin typeface="Microsoft YaHei"/>
                <a:ea typeface="Microsoft YaHei"/>
              </a:rPr>
              <a:t>讨论：误差可能来自哪里？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5791200"/>
            <a:ext cx="56388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4A5568"/>
                </a:solidFill>
                <a:latin typeface="Microsoft YaHei"/>
                <a:ea typeface="Microsoft YaHei"/>
              </a:rPr>
              <a:t>注意第 1、5 张：胎头呈斜椭圆，而检测框是正圆——用“框宽高的一半”当椭圆半轴会带来系统误差。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67500" y="1485900"/>
            <a:ext cx="5143500" cy="609600"/>
          </a:xfrm>
          <a:prstGeom prst="roundRect">
            <a:avLst>
              <a:gd name="adj" fmla="val 12000"/>
            </a:avLst>
          </a:prstGeom>
          <a:solidFill>
            <a:srgbClr val="F0F5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96100" y="1485900"/>
            <a:ext cx="2190750" cy="609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E4FA8"/>
                </a:solidFill>
                <a:latin typeface="Microsoft YaHei"/>
                <a:ea typeface="Microsoft YaHei"/>
              </a:rPr>
              <a:t>12 / 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05900" y="1485900"/>
            <a:ext cx="2514600" cy="609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4A5568"/>
                </a:solidFill>
                <a:latin typeface="Microsoft YaHei"/>
                <a:ea typeface="Microsoft YaHei"/>
              </a:rPr>
              <a:t>全部检出，未出现漏检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67500" y="2190750"/>
            <a:ext cx="5143500" cy="609600"/>
          </a:xfrm>
          <a:prstGeom prst="roundRect">
            <a:avLst>
              <a:gd name="adj" fmla="val 12000"/>
            </a:avLst>
          </a:prstGeom>
          <a:solidFill>
            <a:srgbClr val="F0F5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96100" y="2190750"/>
            <a:ext cx="2190750" cy="609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E4FA8"/>
                </a:solidFill>
                <a:latin typeface="Microsoft YaHei"/>
                <a:ea typeface="Microsoft YaHei"/>
              </a:rPr>
              <a:t>74.7 – 343.6 mm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05900" y="2190750"/>
            <a:ext cx="2514600" cy="609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4A5568"/>
                </a:solidFill>
                <a:latin typeface="Microsoft YaHei"/>
                <a:ea typeface="Microsoft YaHei"/>
              </a:rPr>
              <a:t>头围跨度大，覆盖小孕周到足月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67500" y="2895600"/>
            <a:ext cx="5143500" cy="609600"/>
          </a:xfrm>
          <a:prstGeom prst="roundRect">
            <a:avLst>
              <a:gd name="adj" fmla="val 12000"/>
            </a:avLst>
          </a:prstGeom>
          <a:solidFill>
            <a:srgbClr val="F0F5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96100" y="2895600"/>
            <a:ext cx="2190750" cy="609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E4FA8"/>
                </a:solidFill>
                <a:latin typeface="Microsoft YaHei"/>
                <a:ea typeface="Microsoft YaHei"/>
              </a:rPr>
              <a:t>0.794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05900" y="2895600"/>
            <a:ext cx="2514600" cy="609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4A5568"/>
                </a:solidFill>
                <a:latin typeface="Microsoft YaHei"/>
                <a:ea typeface="Microsoft YaHei"/>
              </a:rPr>
              <a:t>最低置信度（仍 &gt; 0.75）</a:t>
            </a:r>
          </a:p>
        </p:txBody>
      </p:sp>
      <p:pic>
        <p:nvPicPr>
          <p:cNvPr id="26" name="Picture 25" descr="task_hc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6125" y="3714750"/>
            <a:ext cx="4286250" cy="257175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7096125" y="3714750"/>
            <a:ext cx="4286250" cy="2571750"/>
          </a:xfrm>
          <a:prstGeom prst="rect">
            <a:avLst/>
          </a:prstGeom>
          <a:noFill/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6250" y="381000"/>
            <a:ext cx="4762500" cy="2476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0" b="1" i="0">
                <a:solidFill>
                  <a:srgbClr val="E8EFF8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762250"/>
            <a:ext cx="6096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3D7BD9"/>
                </a:solidFill>
                <a:latin typeface="Microsoft YaHei"/>
                <a:ea typeface="Microsoft YaHei"/>
              </a:rPr>
              <a:t>PART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067050"/>
            <a:ext cx="647700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0E3F8C"/>
                </a:solidFill>
                <a:latin typeface="Microsoft YaHei"/>
                <a:ea typeface="Microsoft YaHei"/>
              </a:rPr>
              <a:t>总结与展望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" y="3848100"/>
            <a:ext cx="857250" cy="571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9600" y="41910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7250" y="4114800"/>
            <a:ext cx="5905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1A2230"/>
                </a:solidFill>
                <a:latin typeface="Microsoft YaHei"/>
                <a:ea typeface="Microsoft YaHei"/>
              </a:rPr>
              <a:t>三条结论：流程可行 · 精度相当 · 架构各有取舍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600" y="45720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7250" y="4495800"/>
            <a:ext cx="5905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1A2230"/>
                </a:solidFill>
                <a:latin typeface="Microsoft YaHei"/>
                <a:ea typeface="Microsoft YaHei"/>
              </a:rPr>
              <a:t>三个方向：椭圆回归 · 分割联合 · 临床化评估</a:t>
            </a:r>
          </a:p>
        </p:txBody>
      </p:sp>
      <p:pic>
        <p:nvPicPr>
          <p:cNvPr id="11" name="Picture 10" descr="val_pred_yolov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750" y="1905000"/>
            <a:ext cx="4095750" cy="273367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524750" y="1905000"/>
            <a:ext cx="4095750" cy="2733675"/>
          </a:xfrm>
          <a:prstGeom prst="rect">
            <a:avLst/>
          </a:prstGeom>
          <a:noFill/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24750" y="4724400"/>
            <a:ext cx="40957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8B97A8"/>
                </a:solidFill>
                <a:latin typeface="Microsoft YaHei"/>
                <a:ea typeface="Microsoft YaHei"/>
              </a:rPr>
              <a:t>YOLOv8n 验证集预测：与 YOLO11 表现同样可靠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06000" y="6362700"/>
            <a:ext cx="1905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 i="0">
                <a:solidFill>
                  <a:srgbClr val="1E4FA8"/>
                </a:solidFill>
                <a:latin typeface="Microsoft YaHei"/>
                <a:ea typeface="Microsoft YaHei"/>
              </a:rPr>
              <a:t>25 / 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0"/>
            <a:ext cx="57150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FFFFFF"/>
                </a:solidFill>
                <a:latin typeface="Microsoft YaHei"/>
                <a:ea typeface="Microsoft YaHei"/>
              </a:rPr>
              <a:t>超声胎儿头围检测 · 教学课件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0" y="0"/>
            <a:ext cx="57150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0" i="0">
                <a:solidFill>
                  <a:srgbClr val="FFFFFF"/>
                </a:solidFill>
                <a:latin typeface="Microsoft YaHei"/>
                <a:ea typeface="Microsoft YaHei"/>
              </a:rPr>
              <a:t>第 5 章 · 总结与展望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914400"/>
            <a:ext cx="762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" b="0" i="0">
                <a:solidFill>
                  <a:srgbClr val="1A2230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1000" y="952500"/>
            <a:ext cx="76200" cy="304800"/>
          </a:xfrm>
          <a:prstGeom prst="roundRect">
            <a:avLst>
              <a:gd name="adj" fmla="val 3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06000" y="6362700"/>
            <a:ext cx="1905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 i="0">
                <a:solidFill>
                  <a:srgbClr val="1E4FA8"/>
                </a:solidFill>
                <a:latin typeface="Microsoft YaHei"/>
                <a:ea typeface="Microsoft YaHei"/>
              </a:rPr>
              <a:t>26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" y="6362700"/>
            <a:ext cx="5715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8B97A8"/>
                </a:solidFill>
                <a:latin typeface="Microsoft YaHei"/>
                <a:ea typeface="Microsoft YaHei"/>
              </a:rPr>
              <a:t>HC18 胎儿头围检测项目 · 肖雄涛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1000" y="952500"/>
            <a:ext cx="76200" cy="304800"/>
          </a:xfrm>
          <a:prstGeom prst="roundRect">
            <a:avLst>
              <a:gd name="adj" fmla="val 3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0550" y="876300"/>
            <a:ext cx="104775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E3F8C"/>
                </a:solidFill>
                <a:latin typeface="Microsoft YaHei"/>
                <a:ea typeface="Microsoft YaHei"/>
              </a:rPr>
              <a:t>结论与展望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1485900"/>
            <a:ext cx="6286500" cy="3962400"/>
          </a:xfrm>
          <a:prstGeom prst="roundRect">
            <a:avLst>
              <a:gd name="adj" fmla="val 8000"/>
            </a:avLst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8650" y="1676400"/>
            <a:ext cx="2857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</a:rPr>
              <a:t>三条结论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8650" y="220980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FFFFFF">
              <a:alpha val="18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650" y="2209800"/>
            <a:ext cx="323850" cy="3238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850" y="2171700"/>
            <a:ext cx="5334000" cy="952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FFFFFF"/>
                </a:solidFill>
                <a:latin typeface="Microsoft YaHei"/>
                <a:ea typeface="Microsoft YaHei"/>
              </a:rPr>
              <a:t>“掩膜 → 椭圆 → YOLO 框”的标注转换流程端到端可行，单类检测 mAP50 达到 0.995。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8650" y="327660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FFFFFF">
              <a:alpha val="18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8650" y="3276600"/>
            <a:ext cx="323850" cy="3238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5850" y="3238500"/>
            <a:ext cx="5334000" cy="952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FFFFFF"/>
                </a:solidFill>
                <a:latin typeface="Microsoft YaHei"/>
                <a:ea typeface="Microsoft YaHei"/>
              </a:rPr>
              <a:t>两代模型检测精度几乎持平（mAP50-95：0.955 vs 0.952）；头围误差 YOLOv8 略小（MAD 2.03 vs 2.39 mm），DSC 均 ≈ 0.97。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8650" y="434340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FFFFFF">
              <a:alpha val="18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8650" y="4343400"/>
            <a:ext cx="323850" cy="3238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5850" y="4305300"/>
            <a:ext cx="5334000" cy="952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FFFFFF"/>
                </a:solidFill>
                <a:latin typeface="Microsoft YaHei"/>
                <a:ea typeface="Microsoft YaHei"/>
              </a:rPr>
              <a:t>YOLO11 参数少约 17%、权重小 1 MB，同等精度下更适合资源受限的部署场景。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96100" y="1524000"/>
            <a:ext cx="3810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E3F8C"/>
                </a:solidFill>
                <a:latin typeface="Microsoft YaHei"/>
                <a:ea typeface="Microsoft YaHei"/>
              </a:rPr>
              <a:t>三个改进方向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96100" y="1981200"/>
            <a:ext cx="4914900" cy="1123950"/>
          </a:xfrm>
          <a:prstGeom prst="roundRect">
            <a:avLst>
              <a:gd name="adj" fmla="val 6000"/>
            </a:avLst>
          </a:prstGeom>
          <a:solidFill>
            <a:srgbClr val="F0F5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86600" y="2114550"/>
            <a:ext cx="45339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E3F8C"/>
                </a:solidFill>
                <a:latin typeface="Microsoft YaHei"/>
                <a:ea typeface="Microsoft YaHei"/>
              </a:rPr>
              <a:t>① 直接回归椭圆参数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2476500"/>
            <a:ext cx="453390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A5568"/>
                </a:solidFill>
                <a:latin typeface="Microsoft YaHei"/>
                <a:ea typeface="Microsoft YaHei"/>
              </a:rPr>
              <a:t>让模型直接预测中心 / 半轴 / 角度，省去“框 → 椭圆拟合”环节，减少误差传递。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96100" y="3181350"/>
            <a:ext cx="4914900" cy="1123950"/>
          </a:xfrm>
          <a:prstGeom prst="roundRect">
            <a:avLst>
              <a:gd name="adj" fmla="val 6000"/>
            </a:avLst>
          </a:prstGeom>
          <a:solidFill>
            <a:srgbClr val="F0F5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86600" y="3314700"/>
            <a:ext cx="45339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E3F8C"/>
                </a:solidFill>
                <a:latin typeface="Microsoft YaHei"/>
                <a:ea typeface="Microsoft YaHei"/>
              </a:rPr>
              <a:t>② 检测 + 分割联合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3676650"/>
            <a:ext cx="453390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A5568"/>
                </a:solidFill>
                <a:latin typeface="Microsoft YaHei"/>
                <a:ea typeface="Microsoft YaHei"/>
              </a:rPr>
              <a:t>引入分割分支联合优化颅骨轮廓，有望压缩 mAP50-95 与 MAD 的剩余差距。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96100" y="4381500"/>
            <a:ext cx="4914900" cy="1123950"/>
          </a:xfrm>
          <a:prstGeom prst="roundRect">
            <a:avLst>
              <a:gd name="adj" fmla="val 6000"/>
            </a:avLst>
          </a:prstGeom>
          <a:solidFill>
            <a:srgbClr val="F0F5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86600" y="4514850"/>
            <a:ext cx="45339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E3F8C"/>
                </a:solidFill>
                <a:latin typeface="Microsoft YaHei"/>
                <a:ea typeface="Microsoft YaHei"/>
              </a:rPr>
              <a:t>③ 临床化评估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4876800"/>
            <a:ext cx="453390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A5568"/>
                </a:solidFill>
                <a:latin typeface="Microsoft YaHei"/>
                <a:ea typeface="Microsoft YaHei"/>
              </a:rPr>
              <a:t>按孕周分组评估误差（如 Bland–Altman、95% 一致性界限），向临床可用性靠拢。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1000" y="5638800"/>
            <a:ext cx="11430000" cy="514350"/>
          </a:xfrm>
          <a:prstGeom prst="roundRect">
            <a:avLst>
              <a:gd name="adj" fmla="val 12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9600" y="5638800"/>
            <a:ext cx="1097280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0E3F8C"/>
                </a:solidFill>
                <a:latin typeface="Microsoft YaHei"/>
                <a:ea typeface="Microsoft YaHei"/>
              </a:rPr>
              <a:t>一句话总结：</a:t>
            </a:r>
            <a:r>
              <a:rPr sz="1800" b="0" i="0">
                <a:solidFill>
                  <a:srgbClr val="0E3F8C"/>
                </a:solidFill>
                <a:latin typeface="Microsoft YaHei"/>
                <a:ea typeface="Microsoft YaHei"/>
              </a:rPr>
              <a:t>头围自动估计 = 目标检测 + 几何换算，检测与测量两条指标链都要盯住。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000250"/>
            <a:ext cx="12192000" cy="952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0" b="1" i="0">
                <a:solidFill>
                  <a:srgbClr val="FFFFFF"/>
                </a:solidFill>
                <a:latin typeface="Microsoft YaHei"/>
                <a:ea typeface="Microsoft YaHei"/>
              </a:rPr>
              <a:t>谢 谢 聆 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67050"/>
            <a:ext cx="12192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i="0">
                <a:solidFill>
                  <a:srgbClr val="FFFFFF"/>
                </a:solidFill>
                <a:latin typeface="Microsoft YaHei"/>
                <a:ea typeface="Microsoft YaHei"/>
              </a:rPr>
              <a:t>Q &amp; A · 欢迎讨论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2125" y="3619500"/>
            <a:ext cx="1047750" cy="47625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3943350"/>
            <a:ext cx="12192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70000"/>
              </a:lnSpc>
            </a:pPr>
            <a:r>
              <a:rPr sz="1600" b="0" i="0">
                <a:solidFill>
                  <a:srgbClr val="FFFFFF"/>
                </a:solidFill>
                <a:latin typeface="Microsoft YaHei"/>
                <a:ea typeface="Microsoft YaHei"/>
              </a:rPr>
              <a:t>数据来源：HC18 挑战赛（ISBI 2018，Zenodo: records/1327317）</a:t>
            </a:r>
          </a:p>
          <a:p>
            <a:pPr algn="ctr">
              <a:lnSpc>
                <a:spcPct val="170000"/>
              </a:lnSpc>
            </a:pPr>
            <a:r>
              <a:rPr sz="1600" b="0" i="0">
                <a:solidFill>
                  <a:srgbClr val="FFFFFF"/>
                </a:solidFill>
                <a:latin typeface="Microsoft YaHei"/>
                <a:ea typeface="Microsoft YaHei"/>
              </a:rPr>
              <a:t>框架：Ultralytics YOLOv8 / YOLO11 · 汇报人：肖雄涛 · 2026 年 10 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286500"/>
            <a:ext cx="121920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Microsoft YaHei"/>
                <a:ea typeface="Microsoft YaHei"/>
              </a:rPr>
              <a:t>超声胎儿头围检测 · 教学课件 · 仅用于教学与科研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